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Quando" charset="1" panose="02020603060000060704"/>
      <p:regular r:id="rId19"/>
    </p:embeddedFont>
    <p:embeddedFont>
      <p:font typeface="DM Sans" charset="1" panose="00000000000000000000"/>
      <p:regular r:id="rId20"/>
    </p:embeddedFont>
    <p:embeddedFont>
      <p:font typeface="Canva Sans" charset="1" panose="020B0503030501040103"/>
      <p:regular r:id="rId21"/>
    </p:embeddedFont>
    <p:embeddedFont>
      <p:font typeface="Ubuntu" charset="1" panose="020B0504030602030204"/>
      <p:regular r:id="rId22"/>
    </p:embeddedFont>
    <p:embeddedFont>
      <p:font typeface="DM Sans Bold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AE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62600" y="1051580"/>
            <a:ext cx="8023596" cy="2727947"/>
            <a:chOff x="0" y="0"/>
            <a:chExt cx="2113210" cy="718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3210" cy="718472"/>
            </a:xfrm>
            <a:custGeom>
              <a:avLst/>
              <a:gdLst/>
              <a:ahLst/>
              <a:cxnLst/>
              <a:rect r="r" b="b" t="t" l="l"/>
              <a:pathLst>
                <a:path h="718472" w="2113210">
                  <a:moveTo>
                    <a:pt x="0" y="0"/>
                  </a:moveTo>
                  <a:lnTo>
                    <a:pt x="2113210" y="0"/>
                  </a:lnTo>
                  <a:lnTo>
                    <a:pt x="2113210" y="718472"/>
                  </a:lnTo>
                  <a:lnTo>
                    <a:pt x="0" y="7184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13210" cy="766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61236" y="3933577"/>
            <a:ext cx="8023596" cy="2419847"/>
            <a:chOff x="0" y="0"/>
            <a:chExt cx="2113210" cy="6373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13210" cy="637326"/>
            </a:xfrm>
            <a:custGeom>
              <a:avLst/>
              <a:gdLst/>
              <a:ahLst/>
              <a:cxnLst/>
              <a:rect r="r" b="b" t="t" l="l"/>
              <a:pathLst>
                <a:path h="637326" w="2113210">
                  <a:moveTo>
                    <a:pt x="0" y="0"/>
                  </a:moveTo>
                  <a:lnTo>
                    <a:pt x="2113210" y="0"/>
                  </a:lnTo>
                  <a:lnTo>
                    <a:pt x="2113210" y="637326"/>
                  </a:lnTo>
                  <a:lnTo>
                    <a:pt x="0" y="6373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13210" cy="684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762600" y="6507473"/>
            <a:ext cx="8672351" cy="2727947"/>
            <a:chOff x="0" y="0"/>
            <a:chExt cx="2284076" cy="718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4076" cy="718472"/>
            </a:xfrm>
            <a:custGeom>
              <a:avLst/>
              <a:gdLst/>
              <a:ahLst/>
              <a:cxnLst/>
              <a:rect r="r" b="b" t="t" l="l"/>
              <a:pathLst>
                <a:path h="718472" w="2284076">
                  <a:moveTo>
                    <a:pt x="0" y="0"/>
                  </a:moveTo>
                  <a:lnTo>
                    <a:pt x="2284076" y="0"/>
                  </a:lnTo>
                  <a:lnTo>
                    <a:pt x="2284076" y="718472"/>
                  </a:lnTo>
                  <a:lnTo>
                    <a:pt x="0" y="7184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84076" cy="766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911254" y="-642065"/>
            <a:ext cx="8673855" cy="1693645"/>
            <a:chOff x="0" y="0"/>
            <a:chExt cx="2284472" cy="4460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84472" cy="446063"/>
            </a:xfrm>
            <a:custGeom>
              <a:avLst/>
              <a:gdLst/>
              <a:ahLst/>
              <a:cxnLst/>
              <a:rect r="r" b="b" t="t" l="l"/>
              <a:pathLst>
                <a:path h="446063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46063"/>
                  </a:lnTo>
                  <a:lnTo>
                    <a:pt x="0" y="4460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84472" cy="493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911254" y="9258300"/>
            <a:ext cx="8673855" cy="1693645"/>
            <a:chOff x="0" y="0"/>
            <a:chExt cx="2284472" cy="4460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4472" cy="446063"/>
            </a:xfrm>
            <a:custGeom>
              <a:avLst/>
              <a:gdLst/>
              <a:ahLst/>
              <a:cxnLst/>
              <a:rect r="r" b="b" t="t" l="l"/>
              <a:pathLst>
                <a:path h="446063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46063"/>
                  </a:lnTo>
                  <a:lnTo>
                    <a:pt x="0" y="4460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84472" cy="493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786196" y="-567300"/>
            <a:ext cx="8673855" cy="1618880"/>
            <a:chOff x="0" y="0"/>
            <a:chExt cx="2284472" cy="4263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4472" cy="426372"/>
            </a:xfrm>
            <a:custGeom>
              <a:avLst/>
              <a:gdLst/>
              <a:ahLst/>
              <a:cxnLst/>
              <a:rect r="r" b="b" t="t" l="l"/>
              <a:pathLst>
                <a:path h="426372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26372"/>
                  </a:lnTo>
                  <a:lnTo>
                    <a:pt x="0" y="4263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284472" cy="473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434951" y="9258300"/>
            <a:ext cx="8673855" cy="1693645"/>
            <a:chOff x="0" y="0"/>
            <a:chExt cx="2284472" cy="4460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84472" cy="446063"/>
            </a:xfrm>
            <a:custGeom>
              <a:avLst/>
              <a:gdLst/>
              <a:ahLst/>
              <a:cxnLst/>
              <a:rect r="r" b="b" t="t" l="l"/>
              <a:pathLst>
                <a:path h="446063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46063"/>
                  </a:lnTo>
                  <a:lnTo>
                    <a:pt x="0" y="4460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284472" cy="493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09804" y="4047113"/>
            <a:ext cx="6031739" cy="155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4"/>
              </a:lnSpc>
            </a:pPr>
            <a:r>
              <a:rPr lang="en-US" sz="4803">
                <a:solidFill>
                  <a:srgbClr val="1B8EEB"/>
                </a:solidFill>
                <a:latin typeface="Quando"/>
                <a:ea typeface="Quando"/>
                <a:cs typeface="Quando"/>
                <a:sym typeface="Quando"/>
              </a:rPr>
              <a:t>Smart India </a:t>
            </a:r>
          </a:p>
          <a:p>
            <a:pPr algn="l" marL="0" indent="0" lvl="0">
              <a:lnSpc>
                <a:spcPts val="6244"/>
              </a:lnSpc>
            </a:pPr>
            <a:r>
              <a:rPr lang="en-US" sz="4803">
                <a:solidFill>
                  <a:srgbClr val="1B8EEB"/>
                </a:solidFill>
                <a:latin typeface="Quando"/>
                <a:ea typeface="Quando"/>
                <a:cs typeface="Quando"/>
                <a:sym typeface="Quando"/>
              </a:rPr>
              <a:t>Hackathon 2025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842781" y="4317918"/>
            <a:ext cx="5594156" cy="162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66"/>
              </a:lnSpc>
            </a:pPr>
            <a:r>
              <a:rPr lang="en-US" sz="2300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A Unified Platform that Connects Public Transport, Tourism, and Local Businesses to give Travelers a Smooth and hassle-free experience in Kochi.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50424" y="7354937"/>
            <a:ext cx="5594156" cy="91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5"/>
              </a:lnSpc>
            </a:pPr>
            <a:r>
              <a:rPr lang="en-US" sz="5299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HackHive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907837" y="7469237"/>
            <a:ext cx="1953399" cy="937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3116">
                <a:solidFill>
                  <a:srgbClr val="1B8EEB"/>
                </a:solidFill>
                <a:latin typeface="Quando"/>
                <a:ea typeface="Quando"/>
                <a:cs typeface="Quando"/>
                <a:sym typeface="Quando"/>
              </a:rPr>
              <a:t>Team</a:t>
            </a:r>
          </a:p>
          <a:p>
            <a:pPr algn="ctr" marL="0" indent="0" lvl="0">
              <a:lnSpc>
                <a:spcPts val="3708"/>
              </a:lnSpc>
            </a:pPr>
            <a:r>
              <a:rPr lang="en-US" sz="3116">
                <a:solidFill>
                  <a:srgbClr val="1B8EEB"/>
                </a:solidFill>
                <a:latin typeface="Quando"/>
                <a:ea typeface="Quando"/>
                <a:cs typeface="Quando"/>
                <a:sym typeface="Quando"/>
              </a:rPr>
              <a:t>Name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61236" y="1580909"/>
            <a:ext cx="5083784" cy="162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66"/>
              </a:lnSpc>
            </a:pP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Devel</a:t>
            </a: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pment</a:t>
            </a: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of a T</a:t>
            </a: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ravel</a:t>
            </a: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 Rel</a:t>
            </a: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ate</a:t>
            </a: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d Software App that can be Installed on mobile phones that could Capture Trip Related Information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762600" y="1628534"/>
            <a:ext cx="1952199" cy="1299224"/>
            <a:chOff x="0" y="0"/>
            <a:chExt cx="2602932" cy="1732299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433186"/>
              <a:ext cx="2602932" cy="10260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720"/>
                </a:lnSpc>
              </a:pPr>
              <a:r>
                <a:rPr lang="en-US" sz="5500">
                  <a:solidFill>
                    <a:srgbClr val="1B8EEB"/>
                  </a:solidFill>
                  <a:latin typeface="Quando"/>
                  <a:ea typeface="Quando"/>
                  <a:cs typeface="Quando"/>
                  <a:sym typeface="Quando"/>
                </a:rPr>
                <a:t>81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593758" y="-38100"/>
              <a:ext cx="1571668" cy="467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82"/>
                </a:lnSpc>
                <a:spcBef>
                  <a:spcPct val="0"/>
                </a:spcBef>
              </a:pPr>
              <a:r>
                <a:rPr lang="en-US" sz="2130">
                  <a:solidFill>
                    <a:srgbClr val="1B8EE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Problem 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593758" y="1336038"/>
              <a:ext cx="1571668" cy="3962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55"/>
                </a:lnSpc>
                <a:spcBef>
                  <a:spcPct val="0"/>
                </a:spcBef>
              </a:pPr>
              <a:r>
                <a:rPr lang="en-US" sz="1825">
                  <a:solidFill>
                    <a:srgbClr val="1B8EE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Statement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861236" y="4917221"/>
            <a:ext cx="1773140" cy="470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08"/>
              </a:lnSpc>
            </a:pPr>
            <a:r>
              <a:rPr lang="en-US" sz="3116">
                <a:solidFill>
                  <a:srgbClr val="1B8EEB"/>
                </a:solidFill>
                <a:latin typeface="Quando"/>
                <a:ea typeface="Quando"/>
                <a:cs typeface="Quando"/>
                <a:sym typeface="Quando"/>
              </a:rPr>
              <a:t>Theme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222294" y="3036115"/>
            <a:ext cx="1178751" cy="304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5"/>
              </a:lnSpc>
              <a:spcBef>
                <a:spcPct val="0"/>
              </a:spcBef>
            </a:pPr>
            <a:r>
              <a:rPr lang="en-US" sz="1825">
                <a:solidFill>
                  <a:srgbClr val="1B8EEB"/>
                </a:solidFill>
                <a:latin typeface="Canva Sans"/>
                <a:ea typeface="Canva Sans"/>
                <a:cs typeface="Canva Sans"/>
                <a:sym typeface="Canva Sans"/>
              </a:rPr>
              <a:t>25082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33763" y="5990162"/>
            <a:ext cx="11531236" cy="2464574"/>
            <a:chOff x="0" y="0"/>
            <a:chExt cx="3037033" cy="6491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37033" cy="649106"/>
            </a:xfrm>
            <a:custGeom>
              <a:avLst/>
              <a:gdLst/>
              <a:ahLst/>
              <a:cxnLst/>
              <a:rect r="r" b="b" t="t" l="l"/>
              <a:pathLst>
                <a:path h="649106" w="3037033">
                  <a:moveTo>
                    <a:pt x="0" y="0"/>
                  </a:moveTo>
                  <a:lnTo>
                    <a:pt x="3037033" y="0"/>
                  </a:lnTo>
                  <a:lnTo>
                    <a:pt x="3037033" y="649106"/>
                  </a:lnTo>
                  <a:lnTo>
                    <a:pt x="0" y="649106"/>
                  </a:lnTo>
                  <a:close/>
                </a:path>
              </a:pathLst>
            </a:custGeom>
            <a:solidFill>
              <a:srgbClr val="1B8E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037033" cy="696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11254" y="-642065"/>
            <a:ext cx="1822509" cy="2464574"/>
            <a:chOff x="0" y="0"/>
            <a:chExt cx="480002" cy="6491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0002" cy="649106"/>
            </a:xfrm>
            <a:custGeom>
              <a:avLst/>
              <a:gdLst/>
              <a:ahLst/>
              <a:cxnLst/>
              <a:rect r="r" b="b" t="t" l="l"/>
              <a:pathLst>
                <a:path h="649106" w="480002">
                  <a:moveTo>
                    <a:pt x="0" y="0"/>
                  </a:moveTo>
                  <a:lnTo>
                    <a:pt x="480002" y="0"/>
                  </a:lnTo>
                  <a:lnTo>
                    <a:pt x="480002" y="649106"/>
                  </a:lnTo>
                  <a:lnTo>
                    <a:pt x="0" y="649106"/>
                  </a:lnTo>
                  <a:close/>
                </a:path>
              </a:pathLst>
            </a:custGeom>
            <a:solidFill>
              <a:srgbClr val="1B8E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0002" cy="696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54237" y="-642065"/>
            <a:ext cx="2733763" cy="2464574"/>
            <a:chOff x="0" y="0"/>
            <a:chExt cx="720003" cy="6491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0003" cy="649106"/>
            </a:xfrm>
            <a:custGeom>
              <a:avLst/>
              <a:gdLst/>
              <a:ahLst/>
              <a:cxnLst/>
              <a:rect r="r" b="b" t="t" l="l"/>
              <a:pathLst>
                <a:path h="649106" w="720003">
                  <a:moveTo>
                    <a:pt x="0" y="0"/>
                  </a:moveTo>
                  <a:lnTo>
                    <a:pt x="720003" y="0"/>
                  </a:lnTo>
                  <a:lnTo>
                    <a:pt x="720003" y="649106"/>
                  </a:lnTo>
                  <a:lnTo>
                    <a:pt x="0" y="649106"/>
                  </a:lnTo>
                  <a:close/>
                </a:path>
              </a:pathLst>
            </a:custGeom>
            <a:solidFill>
              <a:srgbClr val="1B8E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20003" cy="696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376746" y="8474016"/>
            <a:ext cx="2222712" cy="2071347"/>
            <a:chOff x="0" y="0"/>
            <a:chExt cx="585406" cy="5455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5406" cy="545540"/>
            </a:xfrm>
            <a:custGeom>
              <a:avLst/>
              <a:gdLst/>
              <a:ahLst/>
              <a:cxnLst/>
              <a:rect r="r" b="b" t="t" l="l"/>
              <a:pathLst>
                <a:path h="545540" w="585406">
                  <a:moveTo>
                    <a:pt x="0" y="0"/>
                  </a:moveTo>
                  <a:lnTo>
                    <a:pt x="585406" y="0"/>
                  </a:lnTo>
                  <a:lnTo>
                    <a:pt x="585406" y="545540"/>
                  </a:lnTo>
                  <a:lnTo>
                    <a:pt x="0" y="545540"/>
                  </a:lnTo>
                  <a:close/>
                </a:path>
              </a:pathLst>
            </a:custGeom>
            <a:solidFill>
              <a:srgbClr val="1B8EE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85406" cy="593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289239" y="8474016"/>
            <a:ext cx="4023002" cy="2464574"/>
            <a:chOff x="0" y="0"/>
            <a:chExt cx="1059556" cy="6491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9556" cy="649106"/>
            </a:xfrm>
            <a:custGeom>
              <a:avLst/>
              <a:gdLst/>
              <a:ahLst/>
              <a:cxnLst/>
              <a:rect r="r" b="b" t="t" l="l"/>
              <a:pathLst>
                <a:path h="649106" w="1059556">
                  <a:moveTo>
                    <a:pt x="0" y="0"/>
                  </a:moveTo>
                  <a:lnTo>
                    <a:pt x="1059556" y="0"/>
                  </a:lnTo>
                  <a:lnTo>
                    <a:pt x="1059556" y="649106"/>
                  </a:lnTo>
                  <a:lnTo>
                    <a:pt x="0" y="649106"/>
                  </a:lnTo>
                  <a:close/>
                </a:path>
              </a:pathLst>
            </a:custGeom>
            <a:solidFill>
              <a:srgbClr val="1B8EE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59556" cy="696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264998" y="5999917"/>
            <a:ext cx="3111747" cy="2464574"/>
            <a:chOff x="0" y="0"/>
            <a:chExt cx="819555" cy="6491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9555" cy="649106"/>
            </a:xfrm>
            <a:custGeom>
              <a:avLst/>
              <a:gdLst/>
              <a:ahLst/>
              <a:cxnLst/>
              <a:rect r="r" b="b" t="t" l="l"/>
              <a:pathLst>
                <a:path h="649106" w="819555">
                  <a:moveTo>
                    <a:pt x="0" y="0"/>
                  </a:moveTo>
                  <a:lnTo>
                    <a:pt x="819555" y="0"/>
                  </a:lnTo>
                  <a:lnTo>
                    <a:pt x="819555" y="649106"/>
                  </a:lnTo>
                  <a:lnTo>
                    <a:pt x="0" y="649106"/>
                  </a:lnTo>
                  <a:close/>
                </a:path>
              </a:pathLst>
            </a:custGeom>
            <a:solidFill>
              <a:srgbClr val="1B8EE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19555" cy="696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3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1254" y="1822509"/>
            <a:ext cx="14642983" cy="4167654"/>
            <a:chOff x="0" y="0"/>
            <a:chExt cx="3856588" cy="10976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56588" cy="1097654"/>
            </a:xfrm>
            <a:custGeom>
              <a:avLst/>
              <a:gdLst/>
              <a:ahLst/>
              <a:cxnLst/>
              <a:rect r="r" b="b" t="t" l="l"/>
              <a:pathLst>
                <a:path h="1097654" w="3856588">
                  <a:moveTo>
                    <a:pt x="0" y="0"/>
                  </a:moveTo>
                  <a:lnTo>
                    <a:pt x="3856588" y="0"/>
                  </a:lnTo>
                  <a:lnTo>
                    <a:pt x="3856588" y="1097654"/>
                  </a:lnTo>
                  <a:lnTo>
                    <a:pt x="0" y="10976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856588" cy="1145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3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951630" y="6559937"/>
            <a:ext cx="1682226" cy="1314850"/>
            <a:chOff x="0" y="0"/>
            <a:chExt cx="7431387" cy="58084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31387" cy="5808472"/>
            </a:xfrm>
            <a:custGeom>
              <a:avLst/>
              <a:gdLst/>
              <a:ahLst/>
              <a:cxnLst/>
              <a:rect r="r" b="b" t="t" l="l"/>
              <a:pathLst>
                <a:path h="5808472" w="7431387">
                  <a:moveTo>
                    <a:pt x="4527152" y="5808472"/>
                  </a:moveTo>
                  <a:lnTo>
                    <a:pt x="3673077" y="4954397"/>
                  </a:lnTo>
                  <a:lnTo>
                    <a:pt x="5119353" y="3508121"/>
                  </a:lnTo>
                  <a:lnTo>
                    <a:pt x="0" y="3508121"/>
                  </a:lnTo>
                  <a:lnTo>
                    <a:pt x="0" y="2300224"/>
                  </a:lnTo>
                  <a:lnTo>
                    <a:pt x="5119226" y="2300224"/>
                  </a:lnTo>
                  <a:lnTo>
                    <a:pt x="3673077" y="854075"/>
                  </a:lnTo>
                  <a:lnTo>
                    <a:pt x="4527152" y="0"/>
                  </a:lnTo>
                  <a:lnTo>
                    <a:pt x="7431387" y="2904236"/>
                  </a:lnTo>
                  <a:lnTo>
                    <a:pt x="4527152" y="58084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654144" y="3342315"/>
            <a:ext cx="8712026" cy="128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74"/>
              </a:lnSpc>
            </a:pPr>
            <a:r>
              <a:rPr lang="en-US" sz="9495">
                <a:solidFill>
                  <a:srgbClr val="1B8EEB"/>
                </a:solidFill>
                <a:latin typeface="Quando"/>
                <a:ea typeface="Quando"/>
                <a:cs typeface="Quando"/>
                <a:sym typeface="Quando"/>
              </a:rPr>
              <a:t>TravelOne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476653" y="6467845"/>
            <a:ext cx="10045455" cy="146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5"/>
              </a:lnSpc>
              <a:spcBef>
                <a:spcPct val="0"/>
              </a:spcBef>
            </a:pPr>
            <a:r>
              <a:rPr lang="en-US" sz="283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“</a:t>
            </a:r>
            <a:r>
              <a:rPr lang="en-US" sz="283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One App, Many Journeys”</a:t>
            </a:r>
          </a:p>
          <a:p>
            <a:pPr algn="l" marL="0" indent="0" lvl="0">
              <a:lnSpc>
                <a:spcPts val="3965"/>
              </a:lnSpc>
              <a:spcBef>
                <a:spcPct val="0"/>
              </a:spcBef>
            </a:pPr>
            <a:r>
              <a:rPr lang="en-US" sz="283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Explore Kochi like never before — book, travel, and discover with zero hassle, all in one app.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849049" y="2228974"/>
            <a:ext cx="3408568" cy="3407883"/>
            <a:chOff x="0" y="0"/>
            <a:chExt cx="4544757" cy="4543845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204442" cy="2208195"/>
              <a:chOff x="0" y="0"/>
              <a:chExt cx="1081891" cy="108373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317295" y="326569"/>
              <a:ext cx="1555058" cy="1555058"/>
            </a:xfrm>
            <a:custGeom>
              <a:avLst/>
              <a:gdLst/>
              <a:ahLst/>
              <a:cxnLst/>
              <a:rect r="r" b="b" t="t" l="l"/>
              <a:pathLst>
                <a:path h="1555058" w="1555058">
                  <a:moveTo>
                    <a:pt x="0" y="0"/>
                  </a:moveTo>
                  <a:lnTo>
                    <a:pt x="1555057" y="0"/>
                  </a:lnTo>
                  <a:lnTo>
                    <a:pt x="1555057" y="1555057"/>
                  </a:lnTo>
                  <a:lnTo>
                    <a:pt x="0" y="1555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32" id="32"/>
            <p:cNvGrpSpPr/>
            <p:nvPr/>
          </p:nvGrpSpPr>
          <p:grpSpPr>
            <a:xfrm rot="0">
              <a:off x="2340315" y="0"/>
              <a:ext cx="2204442" cy="2208195"/>
              <a:chOff x="0" y="0"/>
              <a:chExt cx="1081891" cy="1083733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2531905" y="200785"/>
              <a:ext cx="1806626" cy="1806626"/>
            </a:xfrm>
            <a:custGeom>
              <a:avLst/>
              <a:gdLst/>
              <a:ahLst/>
              <a:cxnLst/>
              <a:rect r="r" b="b" t="t" l="l"/>
              <a:pathLst>
                <a:path h="1806626" w="1806626">
                  <a:moveTo>
                    <a:pt x="0" y="0"/>
                  </a:moveTo>
                  <a:lnTo>
                    <a:pt x="1806625" y="0"/>
                  </a:lnTo>
                  <a:lnTo>
                    <a:pt x="1806625" y="1806626"/>
                  </a:lnTo>
                  <a:lnTo>
                    <a:pt x="0" y="1806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36" id="36"/>
            <p:cNvGrpSpPr/>
            <p:nvPr/>
          </p:nvGrpSpPr>
          <p:grpSpPr>
            <a:xfrm rot="0">
              <a:off x="0" y="2335649"/>
              <a:ext cx="2204442" cy="2208195"/>
              <a:chOff x="0" y="0"/>
              <a:chExt cx="1081891" cy="108373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9" id="39"/>
            <p:cNvSpPr/>
            <p:nvPr/>
          </p:nvSpPr>
          <p:spPr>
            <a:xfrm flipH="false" flipV="false" rot="0">
              <a:off x="238836" y="2560282"/>
              <a:ext cx="1838636" cy="1758930"/>
            </a:xfrm>
            <a:custGeom>
              <a:avLst/>
              <a:gdLst/>
              <a:ahLst/>
              <a:cxnLst/>
              <a:rect r="r" b="b" t="t" l="l"/>
              <a:pathLst>
                <a:path h="1758930" w="1838636">
                  <a:moveTo>
                    <a:pt x="0" y="0"/>
                  </a:moveTo>
                  <a:lnTo>
                    <a:pt x="1838636" y="0"/>
                  </a:lnTo>
                  <a:lnTo>
                    <a:pt x="1838636" y="1758930"/>
                  </a:lnTo>
                  <a:lnTo>
                    <a:pt x="0" y="17589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196" t="-16633" r="-11783" b="-15054"/>
              </a:stretch>
            </a:blipFill>
          </p:spPr>
        </p:sp>
        <p:grpSp>
          <p:nvGrpSpPr>
            <p:cNvPr name="Group 40" id="40"/>
            <p:cNvGrpSpPr/>
            <p:nvPr/>
          </p:nvGrpSpPr>
          <p:grpSpPr>
            <a:xfrm rot="0">
              <a:off x="2340315" y="2335649"/>
              <a:ext cx="2204442" cy="2208195"/>
              <a:chOff x="0" y="0"/>
              <a:chExt cx="1081891" cy="1083733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43" id="43"/>
            <p:cNvSpPr/>
            <p:nvPr/>
          </p:nvSpPr>
          <p:spPr>
            <a:xfrm flipH="false" flipV="false" rot="0">
              <a:off x="2652120" y="2570289"/>
              <a:ext cx="1580832" cy="1738916"/>
            </a:xfrm>
            <a:custGeom>
              <a:avLst/>
              <a:gdLst/>
              <a:ahLst/>
              <a:cxnLst/>
              <a:rect r="r" b="b" t="t" l="l"/>
              <a:pathLst>
                <a:path h="1738916" w="1580832">
                  <a:moveTo>
                    <a:pt x="0" y="0"/>
                  </a:moveTo>
                  <a:lnTo>
                    <a:pt x="1580832" y="0"/>
                  </a:lnTo>
                  <a:lnTo>
                    <a:pt x="1580832" y="1738916"/>
                  </a:lnTo>
                  <a:lnTo>
                    <a:pt x="0" y="1738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57474" t="-33413" r="-194474" b="-40686"/>
              </a:stretch>
            </a:blipFill>
          </p:spPr>
        </p:sp>
      </p:grp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-1298250"/>
            <a:ext cx="17259300" cy="2985174"/>
            <a:chOff x="0" y="0"/>
            <a:chExt cx="6977515" cy="12068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77515" cy="1206833"/>
            </a:xfrm>
            <a:custGeom>
              <a:avLst/>
              <a:gdLst/>
              <a:ahLst/>
              <a:cxnLst/>
              <a:rect r="r" b="b" t="t" l="l"/>
              <a:pathLst>
                <a:path h="1206833" w="6977515">
                  <a:moveTo>
                    <a:pt x="0" y="0"/>
                  </a:moveTo>
                  <a:lnTo>
                    <a:pt x="6977515" y="0"/>
                  </a:lnTo>
                  <a:lnTo>
                    <a:pt x="6977515" y="1206833"/>
                  </a:lnTo>
                  <a:lnTo>
                    <a:pt x="0" y="120683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5285" y="3853363"/>
            <a:ext cx="15766183" cy="3238498"/>
            <a:chOff x="0" y="0"/>
            <a:chExt cx="4152410" cy="8529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52410" cy="852938"/>
            </a:xfrm>
            <a:custGeom>
              <a:avLst/>
              <a:gdLst/>
              <a:ahLst/>
              <a:cxnLst/>
              <a:rect r="r" b="b" t="t" l="l"/>
              <a:pathLst>
                <a:path h="852938" w="4152410">
                  <a:moveTo>
                    <a:pt x="0" y="0"/>
                  </a:moveTo>
                  <a:lnTo>
                    <a:pt x="4152410" y="0"/>
                  </a:lnTo>
                  <a:lnTo>
                    <a:pt x="4152410" y="852938"/>
                  </a:lnTo>
                  <a:lnTo>
                    <a:pt x="0" y="852938"/>
                  </a:lnTo>
                  <a:close/>
                </a:path>
              </a:pathLst>
            </a:custGeom>
            <a:solidFill>
              <a:srgbClr val="AEF1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152410" cy="900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968907" y="9258300"/>
            <a:ext cx="2997607" cy="2463127"/>
            <a:chOff x="0" y="0"/>
            <a:chExt cx="1674790" cy="13761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74790" cy="1376172"/>
            </a:xfrm>
            <a:custGeom>
              <a:avLst/>
              <a:gdLst/>
              <a:ahLst/>
              <a:cxnLst/>
              <a:rect r="r" b="b" t="t" l="l"/>
              <a:pathLst>
                <a:path h="1376172" w="1674790">
                  <a:moveTo>
                    <a:pt x="0" y="0"/>
                  </a:moveTo>
                  <a:lnTo>
                    <a:pt x="1674790" y="0"/>
                  </a:lnTo>
                  <a:lnTo>
                    <a:pt x="1674790" y="1376172"/>
                  </a:lnTo>
                  <a:lnTo>
                    <a:pt x="0" y="1376172"/>
                  </a:lnTo>
                  <a:close/>
                </a:path>
              </a:pathLst>
            </a:custGeom>
            <a:solidFill>
              <a:srgbClr val="1A8DE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146587" y="260819"/>
            <a:ext cx="1302542" cy="1302280"/>
            <a:chOff x="0" y="0"/>
            <a:chExt cx="1736722" cy="173637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842400" cy="843834"/>
              <a:chOff x="0" y="0"/>
              <a:chExt cx="1081891" cy="10837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121250" y="124794"/>
              <a:ext cx="594246" cy="594246"/>
            </a:xfrm>
            <a:custGeom>
              <a:avLst/>
              <a:gdLst/>
              <a:ahLst/>
              <a:cxnLst/>
              <a:rect r="r" b="b" t="t" l="l"/>
              <a:pathLst>
                <a:path h="594246" w="594246">
                  <a:moveTo>
                    <a:pt x="0" y="0"/>
                  </a:moveTo>
                  <a:lnTo>
                    <a:pt x="594246" y="0"/>
                  </a:lnTo>
                  <a:lnTo>
                    <a:pt x="594246" y="594246"/>
                  </a:lnTo>
                  <a:lnTo>
                    <a:pt x="0" y="594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894322" y="0"/>
              <a:ext cx="842400" cy="843834"/>
              <a:chOff x="0" y="0"/>
              <a:chExt cx="1081891" cy="108373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967536" y="76727"/>
              <a:ext cx="690380" cy="690380"/>
            </a:xfrm>
            <a:custGeom>
              <a:avLst/>
              <a:gdLst/>
              <a:ahLst/>
              <a:cxnLst/>
              <a:rect r="r" b="b" t="t" l="l"/>
              <a:pathLst>
                <a:path h="690380" w="690380">
                  <a:moveTo>
                    <a:pt x="0" y="0"/>
                  </a:moveTo>
                  <a:lnTo>
                    <a:pt x="690380" y="0"/>
                  </a:lnTo>
                  <a:lnTo>
                    <a:pt x="690380" y="690380"/>
                  </a:lnTo>
                  <a:lnTo>
                    <a:pt x="0" y="690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18" id="18"/>
            <p:cNvGrpSpPr/>
            <p:nvPr/>
          </p:nvGrpSpPr>
          <p:grpSpPr>
            <a:xfrm rot="0">
              <a:off x="0" y="892539"/>
              <a:ext cx="842400" cy="843834"/>
              <a:chOff x="0" y="0"/>
              <a:chExt cx="1081891" cy="108373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91268" y="978380"/>
              <a:ext cx="702612" cy="672153"/>
            </a:xfrm>
            <a:custGeom>
              <a:avLst/>
              <a:gdLst/>
              <a:ahLst/>
              <a:cxnLst/>
              <a:rect r="r" b="b" t="t" l="l"/>
              <a:pathLst>
                <a:path h="672153" w="702612">
                  <a:moveTo>
                    <a:pt x="0" y="0"/>
                  </a:moveTo>
                  <a:lnTo>
                    <a:pt x="702612" y="0"/>
                  </a:lnTo>
                  <a:lnTo>
                    <a:pt x="702612" y="672153"/>
                  </a:lnTo>
                  <a:lnTo>
                    <a:pt x="0" y="672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196" t="-16633" r="-11783" b="-15054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894322" y="892539"/>
              <a:ext cx="842400" cy="843834"/>
              <a:chOff x="0" y="0"/>
              <a:chExt cx="1081891" cy="108373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1013475" y="982204"/>
              <a:ext cx="604095" cy="664505"/>
            </a:xfrm>
            <a:custGeom>
              <a:avLst/>
              <a:gdLst/>
              <a:ahLst/>
              <a:cxnLst/>
              <a:rect r="r" b="b" t="t" l="l"/>
              <a:pathLst>
                <a:path h="664505" w="604095">
                  <a:moveTo>
                    <a:pt x="0" y="0"/>
                  </a:moveTo>
                  <a:lnTo>
                    <a:pt x="604095" y="0"/>
                  </a:lnTo>
                  <a:lnTo>
                    <a:pt x="604095" y="664505"/>
                  </a:lnTo>
                  <a:lnTo>
                    <a:pt x="0" y="6645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57474" t="-33413" r="-194474" b="-40686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880619" y="-152236"/>
            <a:ext cx="6235421" cy="183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5"/>
              </a:lnSpc>
            </a:pPr>
            <a:r>
              <a:rPr lang="en-US" sz="10560">
                <a:solidFill>
                  <a:srgbClr val="1A8EEA"/>
                </a:solidFill>
                <a:latin typeface="Ubuntu"/>
                <a:ea typeface="Ubuntu"/>
                <a:cs typeface="Ubuntu"/>
                <a:sym typeface="Ubuntu"/>
              </a:rPr>
              <a:t>TravelOne</a:t>
            </a:r>
          </a:p>
        </p:txBody>
      </p:sp>
      <p:grpSp>
        <p:nvGrpSpPr>
          <p:cNvPr name="Group 27" id="27"/>
          <p:cNvGrpSpPr/>
          <p:nvPr/>
        </p:nvGrpSpPr>
        <p:grpSpPr>
          <a:xfrm rot="-10800000">
            <a:off x="1986398" y="2251575"/>
            <a:ext cx="14315204" cy="6442074"/>
            <a:chOff x="0" y="0"/>
            <a:chExt cx="4335224" cy="195092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35224" cy="1950921"/>
            </a:xfrm>
            <a:custGeom>
              <a:avLst/>
              <a:gdLst/>
              <a:ahLst/>
              <a:cxnLst/>
              <a:rect r="r" b="b" t="t" l="l"/>
              <a:pathLst>
                <a:path h="1950921" w="4335224">
                  <a:moveTo>
                    <a:pt x="41102" y="0"/>
                  </a:moveTo>
                  <a:lnTo>
                    <a:pt x="4294122" y="0"/>
                  </a:lnTo>
                  <a:cubicBezTo>
                    <a:pt x="4305022" y="0"/>
                    <a:pt x="4315477" y="4330"/>
                    <a:pt x="4323185" y="12039"/>
                  </a:cubicBezTo>
                  <a:cubicBezTo>
                    <a:pt x="4330893" y="19747"/>
                    <a:pt x="4335224" y="30201"/>
                    <a:pt x="4335224" y="41102"/>
                  </a:cubicBezTo>
                  <a:lnTo>
                    <a:pt x="4335224" y="1909819"/>
                  </a:lnTo>
                  <a:cubicBezTo>
                    <a:pt x="4335224" y="1920720"/>
                    <a:pt x="4330893" y="1931174"/>
                    <a:pt x="4323185" y="1938882"/>
                  </a:cubicBezTo>
                  <a:cubicBezTo>
                    <a:pt x="4315477" y="1946591"/>
                    <a:pt x="4305022" y="1950921"/>
                    <a:pt x="4294122" y="1950921"/>
                  </a:cubicBezTo>
                  <a:lnTo>
                    <a:pt x="41102" y="1950921"/>
                  </a:lnTo>
                  <a:cubicBezTo>
                    <a:pt x="30201" y="1950921"/>
                    <a:pt x="19747" y="1946591"/>
                    <a:pt x="12039" y="1938882"/>
                  </a:cubicBezTo>
                  <a:cubicBezTo>
                    <a:pt x="4330" y="1931174"/>
                    <a:pt x="0" y="1920720"/>
                    <a:pt x="0" y="1909819"/>
                  </a:cubicBezTo>
                  <a:lnTo>
                    <a:pt x="0" y="41102"/>
                  </a:lnTo>
                  <a:cubicBezTo>
                    <a:pt x="0" y="30201"/>
                    <a:pt x="4330" y="19747"/>
                    <a:pt x="12039" y="12039"/>
                  </a:cubicBezTo>
                  <a:cubicBezTo>
                    <a:pt x="19747" y="4330"/>
                    <a:pt x="30201" y="0"/>
                    <a:pt x="411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4335224" cy="1998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21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900862" y="4186444"/>
            <a:ext cx="10586523" cy="3812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6118"/>
              </a:lnSpc>
              <a:buFont typeface="Arial"/>
              <a:buChar char="•"/>
            </a:pPr>
            <a:r>
              <a:rPr lang="en-US" b="true" sz="3800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U</a:t>
            </a:r>
            <a:r>
              <a:rPr lang="en-US" b="true" sz="3800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nified Travel &amp; Tourism App</a:t>
            </a:r>
          </a:p>
          <a:p>
            <a:pPr algn="l" marL="820421" indent="-410210" lvl="1">
              <a:lnSpc>
                <a:spcPts val="6118"/>
              </a:lnSpc>
              <a:buFont typeface="Arial"/>
              <a:buChar char="•"/>
            </a:pPr>
            <a:r>
              <a:rPr lang="en-US" b="true" sz="3800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3800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eamless Planning &amp; Booking</a:t>
            </a:r>
          </a:p>
          <a:p>
            <a:pPr algn="l" marL="820421" indent="-410210" lvl="1">
              <a:lnSpc>
                <a:spcPts val="6118"/>
              </a:lnSpc>
              <a:buFont typeface="Arial"/>
              <a:buChar char="•"/>
            </a:pPr>
            <a:r>
              <a:rPr lang="en-US" b="true" sz="3800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Sma</a:t>
            </a:r>
            <a:r>
              <a:rPr lang="en-US" b="true" sz="3800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rt Metro Card / Wallet</a:t>
            </a:r>
          </a:p>
          <a:p>
            <a:pPr algn="l" marL="820421" indent="-410210" lvl="1">
              <a:lnSpc>
                <a:spcPts val="6118"/>
              </a:lnSpc>
              <a:buFont typeface="Arial"/>
              <a:buChar char="•"/>
            </a:pPr>
            <a:r>
              <a:rPr lang="en-US" b="true" sz="3800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Supp</a:t>
            </a:r>
            <a:r>
              <a:rPr lang="en-US" b="true" sz="3800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ort for Local Businesses</a:t>
            </a:r>
          </a:p>
          <a:p>
            <a:pPr algn="l" marL="820421" indent="-410210" lvl="1">
              <a:lnSpc>
                <a:spcPts val="6118"/>
              </a:lnSpc>
              <a:buFont typeface="Arial"/>
              <a:buChar char="•"/>
            </a:pPr>
            <a:r>
              <a:rPr lang="en-US" b="true" sz="3800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Tourist Engagement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00862" y="2365557"/>
            <a:ext cx="12486277" cy="148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84"/>
              </a:lnSpc>
            </a:pPr>
            <a:r>
              <a:rPr lang="en-US" b="true" sz="4499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TravelOne</a:t>
            </a:r>
            <a:r>
              <a:rPr lang="en-US" b="true" sz="4499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: </a:t>
            </a:r>
          </a:p>
          <a:p>
            <a:pPr algn="ctr" marL="0" indent="0" lvl="0">
              <a:lnSpc>
                <a:spcPts val="5984"/>
              </a:lnSpc>
            </a:pPr>
            <a:r>
              <a:rPr lang="en-US" b="true" sz="4499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Your One-Stop Solution for Travel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7259300" y="9258300"/>
            <a:ext cx="8673855" cy="1618880"/>
            <a:chOff x="0" y="0"/>
            <a:chExt cx="2284472" cy="4263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84472" cy="426372"/>
            </a:xfrm>
            <a:custGeom>
              <a:avLst/>
              <a:gdLst/>
              <a:ahLst/>
              <a:cxnLst/>
              <a:rect r="r" b="b" t="t" l="l"/>
              <a:pathLst>
                <a:path h="426372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26372"/>
                  </a:lnTo>
                  <a:lnTo>
                    <a:pt x="0" y="4263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284472" cy="473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-1298250"/>
            <a:ext cx="17259300" cy="2985174"/>
            <a:chOff x="0" y="0"/>
            <a:chExt cx="6977515" cy="12068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77515" cy="1206833"/>
            </a:xfrm>
            <a:custGeom>
              <a:avLst/>
              <a:gdLst/>
              <a:ahLst/>
              <a:cxnLst/>
              <a:rect r="r" b="b" t="t" l="l"/>
              <a:pathLst>
                <a:path h="1206833" w="6977515">
                  <a:moveTo>
                    <a:pt x="0" y="0"/>
                  </a:moveTo>
                  <a:lnTo>
                    <a:pt x="6977515" y="0"/>
                  </a:lnTo>
                  <a:lnTo>
                    <a:pt x="6977515" y="1206833"/>
                  </a:lnTo>
                  <a:lnTo>
                    <a:pt x="0" y="120683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626612"/>
            <a:ext cx="18497380" cy="7775783"/>
            <a:chOff x="0" y="0"/>
            <a:chExt cx="4871738" cy="20479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71738" cy="2047943"/>
            </a:xfrm>
            <a:custGeom>
              <a:avLst/>
              <a:gdLst/>
              <a:ahLst/>
              <a:cxnLst/>
              <a:rect r="r" b="b" t="t" l="l"/>
              <a:pathLst>
                <a:path h="2047943" w="4871738">
                  <a:moveTo>
                    <a:pt x="0" y="0"/>
                  </a:moveTo>
                  <a:lnTo>
                    <a:pt x="4871738" y="0"/>
                  </a:lnTo>
                  <a:lnTo>
                    <a:pt x="4871738" y="2047943"/>
                  </a:lnTo>
                  <a:lnTo>
                    <a:pt x="0" y="2047943"/>
                  </a:lnTo>
                  <a:close/>
                </a:path>
              </a:pathLst>
            </a:custGeom>
            <a:solidFill>
              <a:srgbClr val="AEF1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871738" cy="2095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968907" y="9258300"/>
            <a:ext cx="2997607" cy="2463127"/>
            <a:chOff x="0" y="0"/>
            <a:chExt cx="1674790" cy="13761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74790" cy="1376172"/>
            </a:xfrm>
            <a:custGeom>
              <a:avLst/>
              <a:gdLst/>
              <a:ahLst/>
              <a:cxnLst/>
              <a:rect r="r" b="b" t="t" l="l"/>
              <a:pathLst>
                <a:path h="1376172" w="1674790">
                  <a:moveTo>
                    <a:pt x="0" y="0"/>
                  </a:moveTo>
                  <a:lnTo>
                    <a:pt x="1674790" y="0"/>
                  </a:lnTo>
                  <a:lnTo>
                    <a:pt x="1674790" y="1376172"/>
                  </a:lnTo>
                  <a:lnTo>
                    <a:pt x="0" y="1376172"/>
                  </a:lnTo>
                  <a:close/>
                </a:path>
              </a:pathLst>
            </a:custGeom>
            <a:solidFill>
              <a:srgbClr val="1A8DE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146587" y="260819"/>
            <a:ext cx="1302542" cy="1302280"/>
            <a:chOff x="0" y="0"/>
            <a:chExt cx="1736722" cy="173637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842400" cy="843834"/>
              <a:chOff x="0" y="0"/>
              <a:chExt cx="1081891" cy="10837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121250" y="124794"/>
              <a:ext cx="594246" cy="594246"/>
            </a:xfrm>
            <a:custGeom>
              <a:avLst/>
              <a:gdLst/>
              <a:ahLst/>
              <a:cxnLst/>
              <a:rect r="r" b="b" t="t" l="l"/>
              <a:pathLst>
                <a:path h="594246" w="594246">
                  <a:moveTo>
                    <a:pt x="0" y="0"/>
                  </a:moveTo>
                  <a:lnTo>
                    <a:pt x="594246" y="0"/>
                  </a:lnTo>
                  <a:lnTo>
                    <a:pt x="594246" y="594246"/>
                  </a:lnTo>
                  <a:lnTo>
                    <a:pt x="0" y="594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894322" y="0"/>
              <a:ext cx="842400" cy="843834"/>
              <a:chOff x="0" y="0"/>
              <a:chExt cx="1081891" cy="108373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967536" y="76727"/>
              <a:ext cx="690380" cy="690380"/>
            </a:xfrm>
            <a:custGeom>
              <a:avLst/>
              <a:gdLst/>
              <a:ahLst/>
              <a:cxnLst/>
              <a:rect r="r" b="b" t="t" l="l"/>
              <a:pathLst>
                <a:path h="690380" w="690380">
                  <a:moveTo>
                    <a:pt x="0" y="0"/>
                  </a:moveTo>
                  <a:lnTo>
                    <a:pt x="690380" y="0"/>
                  </a:lnTo>
                  <a:lnTo>
                    <a:pt x="690380" y="690380"/>
                  </a:lnTo>
                  <a:lnTo>
                    <a:pt x="0" y="690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18" id="18"/>
            <p:cNvGrpSpPr/>
            <p:nvPr/>
          </p:nvGrpSpPr>
          <p:grpSpPr>
            <a:xfrm rot="0">
              <a:off x="0" y="892539"/>
              <a:ext cx="842400" cy="843834"/>
              <a:chOff x="0" y="0"/>
              <a:chExt cx="1081891" cy="108373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91268" y="978380"/>
              <a:ext cx="702612" cy="672153"/>
            </a:xfrm>
            <a:custGeom>
              <a:avLst/>
              <a:gdLst/>
              <a:ahLst/>
              <a:cxnLst/>
              <a:rect r="r" b="b" t="t" l="l"/>
              <a:pathLst>
                <a:path h="672153" w="702612">
                  <a:moveTo>
                    <a:pt x="0" y="0"/>
                  </a:moveTo>
                  <a:lnTo>
                    <a:pt x="702612" y="0"/>
                  </a:lnTo>
                  <a:lnTo>
                    <a:pt x="702612" y="672153"/>
                  </a:lnTo>
                  <a:lnTo>
                    <a:pt x="0" y="672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196" t="-16633" r="-11783" b="-15054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894322" y="892539"/>
              <a:ext cx="842400" cy="843834"/>
              <a:chOff x="0" y="0"/>
              <a:chExt cx="1081891" cy="108373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1013475" y="982204"/>
              <a:ext cx="604095" cy="664505"/>
            </a:xfrm>
            <a:custGeom>
              <a:avLst/>
              <a:gdLst/>
              <a:ahLst/>
              <a:cxnLst/>
              <a:rect r="r" b="b" t="t" l="l"/>
              <a:pathLst>
                <a:path h="664505" w="604095">
                  <a:moveTo>
                    <a:pt x="0" y="0"/>
                  </a:moveTo>
                  <a:lnTo>
                    <a:pt x="604095" y="0"/>
                  </a:lnTo>
                  <a:lnTo>
                    <a:pt x="604095" y="664505"/>
                  </a:lnTo>
                  <a:lnTo>
                    <a:pt x="0" y="6645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57474" t="-33413" r="-194474" b="-40686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880619" y="-152236"/>
            <a:ext cx="6235421" cy="183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5"/>
              </a:lnSpc>
            </a:pPr>
            <a:r>
              <a:rPr lang="en-US" sz="10560">
                <a:solidFill>
                  <a:srgbClr val="1A8EEA"/>
                </a:solidFill>
                <a:latin typeface="Ubuntu"/>
                <a:ea typeface="Ubuntu"/>
                <a:cs typeface="Ubuntu"/>
                <a:sym typeface="Ubuntu"/>
              </a:rPr>
              <a:t>TravelOne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7259300" y="9258300"/>
            <a:ext cx="8673855" cy="1618880"/>
            <a:chOff x="0" y="0"/>
            <a:chExt cx="2284472" cy="4263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84472" cy="426372"/>
            </a:xfrm>
            <a:custGeom>
              <a:avLst/>
              <a:gdLst/>
              <a:ahLst/>
              <a:cxnLst/>
              <a:rect r="r" b="b" t="t" l="l"/>
              <a:pathLst>
                <a:path h="426372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26372"/>
                  </a:lnTo>
                  <a:lnTo>
                    <a:pt x="0" y="4263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284472" cy="473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10800000">
            <a:off x="1986398" y="2251575"/>
            <a:ext cx="14315204" cy="6442074"/>
            <a:chOff x="0" y="0"/>
            <a:chExt cx="4335224" cy="195092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35224" cy="1950921"/>
            </a:xfrm>
            <a:custGeom>
              <a:avLst/>
              <a:gdLst/>
              <a:ahLst/>
              <a:cxnLst/>
              <a:rect r="r" b="b" t="t" l="l"/>
              <a:pathLst>
                <a:path h="1950921" w="4335224">
                  <a:moveTo>
                    <a:pt x="41102" y="0"/>
                  </a:moveTo>
                  <a:lnTo>
                    <a:pt x="4294122" y="0"/>
                  </a:lnTo>
                  <a:cubicBezTo>
                    <a:pt x="4305022" y="0"/>
                    <a:pt x="4315477" y="4330"/>
                    <a:pt x="4323185" y="12039"/>
                  </a:cubicBezTo>
                  <a:cubicBezTo>
                    <a:pt x="4330893" y="19747"/>
                    <a:pt x="4335224" y="30201"/>
                    <a:pt x="4335224" y="41102"/>
                  </a:cubicBezTo>
                  <a:lnTo>
                    <a:pt x="4335224" y="1909819"/>
                  </a:lnTo>
                  <a:cubicBezTo>
                    <a:pt x="4335224" y="1920720"/>
                    <a:pt x="4330893" y="1931174"/>
                    <a:pt x="4323185" y="1938882"/>
                  </a:cubicBezTo>
                  <a:cubicBezTo>
                    <a:pt x="4315477" y="1946591"/>
                    <a:pt x="4305022" y="1950921"/>
                    <a:pt x="4294122" y="1950921"/>
                  </a:cubicBezTo>
                  <a:lnTo>
                    <a:pt x="41102" y="1950921"/>
                  </a:lnTo>
                  <a:cubicBezTo>
                    <a:pt x="30201" y="1950921"/>
                    <a:pt x="19747" y="1946591"/>
                    <a:pt x="12039" y="1938882"/>
                  </a:cubicBezTo>
                  <a:cubicBezTo>
                    <a:pt x="4330" y="1931174"/>
                    <a:pt x="0" y="1920720"/>
                    <a:pt x="0" y="1909819"/>
                  </a:cubicBezTo>
                  <a:lnTo>
                    <a:pt x="0" y="41102"/>
                  </a:lnTo>
                  <a:cubicBezTo>
                    <a:pt x="0" y="30201"/>
                    <a:pt x="4330" y="19747"/>
                    <a:pt x="12039" y="12039"/>
                  </a:cubicBezTo>
                  <a:cubicBezTo>
                    <a:pt x="19747" y="4330"/>
                    <a:pt x="30201" y="0"/>
                    <a:pt x="411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4335224" cy="1998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21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416114" y="3784443"/>
            <a:ext cx="13455772" cy="432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First platform to combine Urban Transport + Tourism + Hospitality in Kerala.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Discounts &amp; rewards integrated with a digital metro card.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Opportunity for local guides and businesses to participate, creating jobs &amp; growth.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Scalable model → can be expanded to other cities in India.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2900862" y="2699420"/>
            <a:ext cx="1248627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In</a:t>
            </a:r>
            <a:r>
              <a:rPr lang="en-US" b="true" sz="4500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novation &amp; Uniqueness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-1298250"/>
            <a:ext cx="17259300" cy="2985174"/>
            <a:chOff x="0" y="0"/>
            <a:chExt cx="6977515" cy="12068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77515" cy="1206833"/>
            </a:xfrm>
            <a:custGeom>
              <a:avLst/>
              <a:gdLst/>
              <a:ahLst/>
              <a:cxnLst/>
              <a:rect r="r" b="b" t="t" l="l"/>
              <a:pathLst>
                <a:path h="1206833" w="6977515">
                  <a:moveTo>
                    <a:pt x="0" y="0"/>
                  </a:moveTo>
                  <a:lnTo>
                    <a:pt x="6977515" y="0"/>
                  </a:lnTo>
                  <a:lnTo>
                    <a:pt x="6977515" y="1206833"/>
                  </a:lnTo>
                  <a:lnTo>
                    <a:pt x="0" y="120683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5285" y="3853363"/>
            <a:ext cx="15766183" cy="3238498"/>
            <a:chOff x="0" y="0"/>
            <a:chExt cx="4152410" cy="8529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52410" cy="852938"/>
            </a:xfrm>
            <a:custGeom>
              <a:avLst/>
              <a:gdLst/>
              <a:ahLst/>
              <a:cxnLst/>
              <a:rect r="r" b="b" t="t" l="l"/>
              <a:pathLst>
                <a:path h="852938" w="4152410">
                  <a:moveTo>
                    <a:pt x="0" y="0"/>
                  </a:moveTo>
                  <a:lnTo>
                    <a:pt x="4152410" y="0"/>
                  </a:lnTo>
                  <a:lnTo>
                    <a:pt x="4152410" y="852938"/>
                  </a:lnTo>
                  <a:lnTo>
                    <a:pt x="0" y="852938"/>
                  </a:lnTo>
                  <a:close/>
                </a:path>
              </a:pathLst>
            </a:custGeom>
            <a:solidFill>
              <a:srgbClr val="AEF1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152410" cy="900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968907" y="9258300"/>
            <a:ext cx="2997607" cy="2463127"/>
            <a:chOff x="0" y="0"/>
            <a:chExt cx="1674790" cy="13761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74790" cy="1376172"/>
            </a:xfrm>
            <a:custGeom>
              <a:avLst/>
              <a:gdLst/>
              <a:ahLst/>
              <a:cxnLst/>
              <a:rect r="r" b="b" t="t" l="l"/>
              <a:pathLst>
                <a:path h="1376172" w="1674790">
                  <a:moveTo>
                    <a:pt x="0" y="0"/>
                  </a:moveTo>
                  <a:lnTo>
                    <a:pt x="1674790" y="0"/>
                  </a:lnTo>
                  <a:lnTo>
                    <a:pt x="1674790" y="1376172"/>
                  </a:lnTo>
                  <a:lnTo>
                    <a:pt x="0" y="1376172"/>
                  </a:lnTo>
                  <a:close/>
                </a:path>
              </a:pathLst>
            </a:custGeom>
            <a:solidFill>
              <a:srgbClr val="1A8DE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146587" y="260819"/>
            <a:ext cx="1302542" cy="1302280"/>
            <a:chOff x="0" y="0"/>
            <a:chExt cx="1736722" cy="173637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842400" cy="843834"/>
              <a:chOff x="0" y="0"/>
              <a:chExt cx="1081891" cy="10837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121250" y="124794"/>
              <a:ext cx="594246" cy="594246"/>
            </a:xfrm>
            <a:custGeom>
              <a:avLst/>
              <a:gdLst/>
              <a:ahLst/>
              <a:cxnLst/>
              <a:rect r="r" b="b" t="t" l="l"/>
              <a:pathLst>
                <a:path h="594246" w="594246">
                  <a:moveTo>
                    <a:pt x="0" y="0"/>
                  </a:moveTo>
                  <a:lnTo>
                    <a:pt x="594246" y="0"/>
                  </a:lnTo>
                  <a:lnTo>
                    <a:pt x="594246" y="594246"/>
                  </a:lnTo>
                  <a:lnTo>
                    <a:pt x="0" y="594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894322" y="0"/>
              <a:ext cx="842400" cy="843834"/>
              <a:chOff x="0" y="0"/>
              <a:chExt cx="1081891" cy="108373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967536" y="76727"/>
              <a:ext cx="690380" cy="690380"/>
            </a:xfrm>
            <a:custGeom>
              <a:avLst/>
              <a:gdLst/>
              <a:ahLst/>
              <a:cxnLst/>
              <a:rect r="r" b="b" t="t" l="l"/>
              <a:pathLst>
                <a:path h="690380" w="690380">
                  <a:moveTo>
                    <a:pt x="0" y="0"/>
                  </a:moveTo>
                  <a:lnTo>
                    <a:pt x="690380" y="0"/>
                  </a:lnTo>
                  <a:lnTo>
                    <a:pt x="690380" y="690380"/>
                  </a:lnTo>
                  <a:lnTo>
                    <a:pt x="0" y="690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18" id="18"/>
            <p:cNvGrpSpPr/>
            <p:nvPr/>
          </p:nvGrpSpPr>
          <p:grpSpPr>
            <a:xfrm rot="0">
              <a:off x="0" y="892539"/>
              <a:ext cx="842400" cy="843834"/>
              <a:chOff x="0" y="0"/>
              <a:chExt cx="1081891" cy="108373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91268" y="978380"/>
              <a:ext cx="702612" cy="672153"/>
            </a:xfrm>
            <a:custGeom>
              <a:avLst/>
              <a:gdLst/>
              <a:ahLst/>
              <a:cxnLst/>
              <a:rect r="r" b="b" t="t" l="l"/>
              <a:pathLst>
                <a:path h="672153" w="702612">
                  <a:moveTo>
                    <a:pt x="0" y="0"/>
                  </a:moveTo>
                  <a:lnTo>
                    <a:pt x="702612" y="0"/>
                  </a:lnTo>
                  <a:lnTo>
                    <a:pt x="702612" y="672153"/>
                  </a:lnTo>
                  <a:lnTo>
                    <a:pt x="0" y="672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196" t="-16633" r="-11783" b="-15054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894322" y="892539"/>
              <a:ext cx="842400" cy="843834"/>
              <a:chOff x="0" y="0"/>
              <a:chExt cx="1081891" cy="108373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1013475" y="982204"/>
              <a:ext cx="604095" cy="664505"/>
            </a:xfrm>
            <a:custGeom>
              <a:avLst/>
              <a:gdLst/>
              <a:ahLst/>
              <a:cxnLst/>
              <a:rect r="r" b="b" t="t" l="l"/>
              <a:pathLst>
                <a:path h="664505" w="604095">
                  <a:moveTo>
                    <a:pt x="0" y="0"/>
                  </a:moveTo>
                  <a:lnTo>
                    <a:pt x="604095" y="0"/>
                  </a:lnTo>
                  <a:lnTo>
                    <a:pt x="604095" y="664505"/>
                  </a:lnTo>
                  <a:lnTo>
                    <a:pt x="0" y="6645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57474" t="-33413" r="-194474" b="-40686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880619" y="-152236"/>
            <a:ext cx="6235421" cy="183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5"/>
              </a:lnSpc>
            </a:pPr>
            <a:r>
              <a:rPr lang="en-US" sz="10560">
                <a:solidFill>
                  <a:srgbClr val="1A8EEA"/>
                </a:solidFill>
                <a:latin typeface="Ubuntu"/>
                <a:ea typeface="Ubuntu"/>
                <a:cs typeface="Ubuntu"/>
                <a:sym typeface="Ubuntu"/>
              </a:rPr>
              <a:t>TravelOne</a:t>
            </a:r>
          </a:p>
        </p:txBody>
      </p:sp>
      <p:grpSp>
        <p:nvGrpSpPr>
          <p:cNvPr name="Group 27" id="27"/>
          <p:cNvGrpSpPr/>
          <p:nvPr/>
        </p:nvGrpSpPr>
        <p:grpSpPr>
          <a:xfrm rot="-10800000">
            <a:off x="1986398" y="2251575"/>
            <a:ext cx="14315204" cy="6442074"/>
            <a:chOff x="0" y="0"/>
            <a:chExt cx="4335224" cy="195092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35224" cy="1950921"/>
            </a:xfrm>
            <a:custGeom>
              <a:avLst/>
              <a:gdLst/>
              <a:ahLst/>
              <a:cxnLst/>
              <a:rect r="r" b="b" t="t" l="l"/>
              <a:pathLst>
                <a:path h="1950921" w="4335224">
                  <a:moveTo>
                    <a:pt x="41102" y="0"/>
                  </a:moveTo>
                  <a:lnTo>
                    <a:pt x="4294122" y="0"/>
                  </a:lnTo>
                  <a:cubicBezTo>
                    <a:pt x="4305022" y="0"/>
                    <a:pt x="4315477" y="4330"/>
                    <a:pt x="4323185" y="12039"/>
                  </a:cubicBezTo>
                  <a:cubicBezTo>
                    <a:pt x="4330893" y="19747"/>
                    <a:pt x="4335224" y="30201"/>
                    <a:pt x="4335224" y="41102"/>
                  </a:cubicBezTo>
                  <a:lnTo>
                    <a:pt x="4335224" y="1909819"/>
                  </a:lnTo>
                  <a:cubicBezTo>
                    <a:pt x="4335224" y="1920720"/>
                    <a:pt x="4330893" y="1931174"/>
                    <a:pt x="4323185" y="1938882"/>
                  </a:cubicBezTo>
                  <a:cubicBezTo>
                    <a:pt x="4315477" y="1946591"/>
                    <a:pt x="4305022" y="1950921"/>
                    <a:pt x="4294122" y="1950921"/>
                  </a:cubicBezTo>
                  <a:lnTo>
                    <a:pt x="41102" y="1950921"/>
                  </a:lnTo>
                  <a:cubicBezTo>
                    <a:pt x="30201" y="1950921"/>
                    <a:pt x="19747" y="1946591"/>
                    <a:pt x="12039" y="1938882"/>
                  </a:cubicBezTo>
                  <a:cubicBezTo>
                    <a:pt x="4330" y="1931174"/>
                    <a:pt x="0" y="1920720"/>
                    <a:pt x="0" y="1909819"/>
                  </a:cubicBezTo>
                  <a:lnTo>
                    <a:pt x="0" y="41102"/>
                  </a:lnTo>
                  <a:cubicBezTo>
                    <a:pt x="0" y="30201"/>
                    <a:pt x="4330" y="19747"/>
                    <a:pt x="12039" y="12039"/>
                  </a:cubicBezTo>
                  <a:cubicBezTo>
                    <a:pt x="19747" y="4330"/>
                    <a:pt x="30201" y="0"/>
                    <a:pt x="411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4335224" cy="1998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21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510668" y="3698545"/>
            <a:ext cx="13266664" cy="432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1587" indent="-380793" lvl="1">
              <a:lnSpc>
                <a:spcPts val="4938"/>
              </a:lnSpc>
              <a:buFont typeface="Arial"/>
              <a:buChar char="•"/>
            </a:pPr>
            <a:r>
              <a:rPr lang="en-US" b="true" sz="3527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Eliminates the need for multiple apps/websites.</a:t>
            </a:r>
          </a:p>
          <a:p>
            <a:pPr algn="l" marL="761587" indent="-380793" lvl="1">
              <a:lnSpc>
                <a:spcPts val="4938"/>
              </a:lnSpc>
              <a:buFont typeface="Arial"/>
              <a:buChar char="•"/>
            </a:pPr>
            <a:r>
              <a:rPr lang="en-US" b="true" sz="3527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Simplifies trip planning for both tourists and daily commuters.</a:t>
            </a:r>
          </a:p>
          <a:p>
            <a:pPr algn="l" marL="761587" indent="-380793" lvl="1">
              <a:lnSpc>
                <a:spcPts val="4938"/>
              </a:lnSpc>
              <a:buFont typeface="Arial"/>
              <a:buChar char="•"/>
            </a:pPr>
            <a:r>
              <a:rPr lang="en-US" b="true" sz="3527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Encourages eco-friendly public transport and promotes Kochi’s cultural heritage.</a:t>
            </a:r>
          </a:p>
          <a:p>
            <a:pPr algn="l" marL="761587" indent="-380793" lvl="1">
              <a:lnSpc>
                <a:spcPts val="4938"/>
              </a:lnSpc>
              <a:buFont typeface="Arial"/>
              <a:buChar char="•"/>
            </a:pPr>
            <a:r>
              <a:rPr lang="en-US" b="true" sz="3527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Boosts local economy by connecting travelers with local guides, restaurants, and businesses.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00862" y="2683981"/>
            <a:ext cx="1248627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How it Addresses</a:t>
            </a:r>
            <a:r>
              <a:rPr lang="en-US" b="true" sz="4500">
                <a:solidFill>
                  <a:srgbClr val="1A8DEC"/>
                </a:solidFill>
                <a:latin typeface="DM Sans Bold"/>
                <a:ea typeface="DM Sans Bold"/>
                <a:cs typeface="DM Sans Bold"/>
                <a:sym typeface="DM Sans Bold"/>
              </a:rPr>
              <a:t> the Problem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7259300" y="9258300"/>
            <a:ext cx="8673855" cy="1618880"/>
            <a:chOff x="0" y="0"/>
            <a:chExt cx="2284472" cy="4263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84472" cy="426372"/>
            </a:xfrm>
            <a:custGeom>
              <a:avLst/>
              <a:gdLst/>
              <a:ahLst/>
              <a:cxnLst/>
              <a:rect r="r" b="b" t="t" l="l"/>
              <a:pathLst>
                <a:path h="426372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26372"/>
                  </a:lnTo>
                  <a:lnTo>
                    <a:pt x="0" y="4263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284472" cy="473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16237" y="9093119"/>
            <a:ext cx="7028294" cy="702829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2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39217" y="4370252"/>
            <a:ext cx="6796234" cy="2772328"/>
            <a:chOff x="0" y="0"/>
            <a:chExt cx="9061646" cy="369643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061646" cy="3696437"/>
              <a:chOff x="0" y="0"/>
              <a:chExt cx="1793314" cy="7315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93314" cy="731531"/>
              </a:xfrm>
              <a:custGeom>
                <a:avLst/>
                <a:gdLst/>
                <a:ahLst/>
                <a:cxnLst/>
                <a:rect r="r" b="b" t="t" l="l"/>
                <a:pathLst>
                  <a:path h="731531" w="1793314">
                    <a:moveTo>
                      <a:pt x="0" y="0"/>
                    </a:moveTo>
                    <a:lnTo>
                      <a:pt x="1793314" y="0"/>
                    </a:lnTo>
                    <a:lnTo>
                      <a:pt x="1793314" y="731531"/>
                    </a:lnTo>
                    <a:lnTo>
                      <a:pt x="0" y="73153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793314" cy="7791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021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5517826" y="208623"/>
              <a:ext cx="3274763" cy="3279192"/>
              <a:chOff x="0" y="0"/>
              <a:chExt cx="7609708" cy="762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609708" cy="7620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0" w="7609708">
                    <a:moveTo>
                      <a:pt x="6817030" y="0"/>
                    </a:moveTo>
                    <a:lnTo>
                      <a:pt x="792678" y="0"/>
                    </a:lnTo>
                    <a:cubicBezTo>
                      <a:pt x="355120" y="0"/>
                      <a:pt x="0" y="355600"/>
                      <a:pt x="0" y="793750"/>
                    </a:cubicBezTo>
                    <a:lnTo>
                      <a:pt x="0" y="7620000"/>
                    </a:lnTo>
                    <a:lnTo>
                      <a:pt x="6817030" y="7620000"/>
                    </a:lnTo>
                    <a:cubicBezTo>
                      <a:pt x="7254588" y="7620000"/>
                      <a:pt x="7609708" y="7264400"/>
                      <a:pt x="7609708" y="6826250"/>
                    </a:cubicBezTo>
                    <a:lnTo>
                      <a:pt x="7609708" y="0"/>
                    </a:lnTo>
                    <a:lnTo>
                      <a:pt x="681703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25238" t="0" r="-25238" b="0"/>
                </a:stretch>
              </a:blip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590258"/>
              <a:ext cx="5357942" cy="1823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3675"/>
                </a:lnSpc>
                <a:spcBef>
                  <a:spcPct val="0"/>
                </a:spcBef>
              </a:pPr>
              <a:r>
                <a:rPr lang="en-US" sz="2625">
                  <a:solidFill>
                    <a:srgbClr val="1B8EEB"/>
                  </a:solidFill>
                  <a:latin typeface="Quando"/>
                  <a:ea typeface="Quando"/>
                  <a:cs typeface="Quando"/>
                  <a:sym typeface="Quando"/>
                </a:rPr>
                <a:t> </a:t>
              </a:r>
              <a:r>
                <a:rPr lang="en-US" sz="2625">
                  <a:solidFill>
                    <a:srgbClr val="1B8EEB"/>
                  </a:solidFill>
                  <a:latin typeface="Quando"/>
                  <a:ea typeface="Quando"/>
                  <a:cs typeface="Quando"/>
                  <a:sym typeface="Quando"/>
                </a:rPr>
                <a:t>Hotels &amp; restaurants with metro-card discounts.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532972"/>
              <a:ext cx="5357942" cy="50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3277"/>
                </a:lnSpc>
              </a:pPr>
              <a:r>
                <a:rPr lang="en-US" sz="2308" u="none">
                  <a:solidFill>
                    <a:srgbClr val="1B8EEB"/>
                  </a:solidFill>
                  <a:latin typeface="DM Sans"/>
                  <a:ea typeface="DM Sans"/>
                  <a:cs typeface="DM Sans"/>
                  <a:sym typeface="DM Sans"/>
                </a:rPr>
                <a:t>Savings on local dining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555861" y="1438230"/>
            <a:ext cx="7732139" cy="2732372"/>
            <a:chOff x="0" y="0"/>
            <a:chExt cx="10309519" cy="3643163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309519" cy="3643163"/>
              <a:chOff x="0" y="0"/>
              <a:chExt cx="2040270" cy="72098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40270" cy="720988"/>
              </a:xfrm>
              <a:custGeom>
                <a:avLst/>
                <a:gdLst/>
                <a:ahLst/>
                <a:cxnLst/>
                <a:rect r="r" b="b" t="t" l="l"/>
                <a:pathLst>
                  <a:path h="720988" w="2040270">
                    <a:moveTo>
                      <a:pt x="0" y="0"/>
                    </a:moveTo>
                    <a:lnTo>
                      <a:pt x="2040270" y="0"/>
                    </a:lnTo>
                    <a:lnTo>
                      <a:pt x="2040270" y="720988"/>
                    </a:lnTo>
                    <a:lnTo>
                      <a:pt x="0" y="72098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2040270" cy="7686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021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305748" y="282414"/>
              <a:ext cx="3274763" cy="3143898"/>
              <a:chOff x="0" y="0"/>
              <a:chExt cx="7609708" cy="730561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609708" cy="7305612"/>
              </a:xfrm>
              <a:custGeom>
                <a:avLst/>
                <a:gdLst/>
                <a:ahLst/>
                <a:cxnLst/>
                <a:rect r="r" b="b" t="t" l="l"/>
                <a:pathLst>
                  <a:path h="7305612" w="7609708">
                    <a:moveTo>
                      <a:pt x="6817030" y="0"/>
                    </a:moveTo>
                    <a:lnTo>
                      <a:pt x="792678" y="0"/>
                    </a:lnTo>
                    <a:cubicBezTo>
                      <a:pt x="355120" y="0"/>
                      <a:pt x="0" y="340929"/>
                      <a:pt x="0" y="761001"/>
                    </a:cubicBezTo>
                    <a:lnTo>
                      <a:pt x="0" y="7305612"/>
                    </a:lnTo>
                    <a:lnTo>
                      <a:pt x="6817030" y="7305612"/>
                    </a:lnTo>
                    <a:cubicBezTo>
                      <a:pt x="7254588" y="7305612"/>
                      <a:pt x="7609708" y="6964683"/>
                      <a:pt x="7609708" y="6544611"/>
                    </a:cubicBezTo>
                    <a:lnTo>
                      <a:pt x="7609708" y="0"/>
                    </a:lnTo>
                    <a:lnTo>
                      <a:pt x="681703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13434" t="0" r="-11449" b="0"/>
                </a:stretch>
              </a:blip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4259534" y="1160871"/>
              <a:ext cx="4680954" cy="58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5"/>
                </a:lnSpc>
                <a:spcBef>
                  <a:spcPct val="0"/>
                </a:spcBef>
              </a:pPr>
              <a:r>
                <a:rPr lang="en-US" sz="2625">
                  <a:solidFill>
                    <a:srgbClr val="1B8EEB"/>
                  </a:solidFill>
                  <a:latin typeface="Quando"/>
                  <a:ea typeface="Quando"/>
                  <a:cs typeface="Quando"/>
                  <a:sym typeface="Quando"/>
                </a:rPr>
                <a:t>Expense Manager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259534" y="1912984"/>
              <a:ext cx="4680954" cy="1051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77"/>
                </a:lnSpc>
              </a:pPr>
              <a:r>
                <a:rPr lang="en-US" sz="2308">
                  <a:solidFill>
                    <a:srgbClr val="1B8EEB"/>
                  </a:solidFill>
                  <a:latin typeface="DM Sans"/>
                  <a:ea typeface="DM Sans"/>
                  <a:cs typeface="DM Sans"/>
                  <a:sym typeface="DM Sans"/>
                </a:rPr>
                <a:t>Expense Tracking Features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555861" y="7340195"/>
            <a:ext cx="7732139" cy="2732372"/>
            <a:chOff x="0" y="0"/>
            <a:chExt cx="10309519" cy="3643163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309519" cy="3643163"/>
              <a:chOff x="0" y="0"/>
              <a:chExt cx="2040270" cy="72098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040270" cy="720988"/>
              </a:xfrm>
              <a:custGeom>
                <a:avLst/>
                <a:gdLst/>
                <a:ahLst/>
                <a:cxnLst/>
                <a:rect r="r" b="b" t="t" l="l"/>
                <a:pathLst>
                  <a:path h="720988" w="2040270">
                    <a:moveTo>
                      <a:pt x="0" y="0"/>
                    </a:moveTo>
                    <a:lnTo>
                      <a:pt x="2040270" y="0"/>
                    </a:lnTo>
                    <a:lnTo>
                      <a:pt x="2040270" y="720988"/>
                    </a:lnTo>
                    <a:lnTo>
                      <a:pt x="0" y="72098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2040270" cy="7686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021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05748" y="188030"/>
              <a:ext cx="3274763" cy="3249612"/>
              <a:chOff x="0" y="0"/>
              <a:chExt cx="7609708" cy="755126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609708" cy="7551265"/>
              </a:xfrm>
              <a:custGeom>
                <a:avLst/>
                <a:gdLst/>
                <a:ahLst/>
                <a:cxnLst/>
                <a:rect r="r" b="b" t="t" l="l"/>
                <a:pathLst>
                  <a:path h="7551265" w="7609708">
                    <a:moveTo>
                      <a:pt x="6817030" y="0"/>
                    </a:moveTo>
                    <a:lnTo>
                      <a:pt x="792678" y="0"/>
                    </a:lnTo>
                    <a:cubicBezTo>
                      <a:pt x="355120" y="0"/>
                      <a:pt x="0" y="352392"/>
                      <a:pt x="0" y="786590"/>
                    </a:cubicBezTo>
                    <a:lnTo>
                      <a:pt x="0" y="7551265"/>
                    </a:lnTo>
                    <a:lnTo>
                      <a:pt x="6817030" y="7551265"/>
                    </a:lnTo>
                    <a:cubicBezTo>
                      <a:pt x="7254588" y="7551265"/>
                      <a:pt x="7609708" y="7198873"/>
                      <a:pt x="7609708" y="6764675"/>
                    </a:cubicBezTo>
                    <a:lnTo>
                      <a:pt x="7609708" y="0"/>
                    </a:lnTo>
                    <a:lnTo>
                      <a:pt x="681703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-34538"/>
                </a:stretch>
              </a:blip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4259534" y="853665"/>
              <a:ext cx="5321468" cy="1202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5"/>
                </a:lnSpc>
                <a:spcBef>
                  <a:spcPct val="0"/>
                </a:spcBef>
              </a:pPr>
              <a:r>
                <a:rPr lang="en-US" sz="2625">
                  <a:solidFill>
                    <a:srgbClr val="1B8EEB"/>
                  </a:solidFill>
                  <a:latin typeface="Quando"/>
                  <a:ea typeface="Quando"/>
                  <a:cs typeface="Quando"/>
                  <a:sym typeface="Quando"/>
                </a:rPr>
                <a:t> Explore tourist spots; b</a:t>
              </a:r>
              <a:r>
                <a:rPr lang="en-US" sz="2625">
                  <a:solidFill>
                    <a:srgbClr val="1B8EEB"/>
                  </a:solidFill>
                  <a:latin typeface="Quando"/>
                  <a:ea typeface="Quando"/>
                  <a:cs typeface="Quando"/>
                  <a:sym typeface="Quando"/>
                </a:rPr>
                <a:t>ook &amp; review guides.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4259534" y="2217666"/>
              <a:ext cx="5321468" cy="50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77"/>
                </a:lnSpc>
              </a:pPr>
              <a:r>
                <a:rPr lang="en-US" sz="2308" u="none">
                  <a:solidFill>
                    <a:srgbClr val="1B8EEB"/>
                  </a:solidFill>
                  <a:latin typeface="DM Sans"/>
                  <a:ea typeface="DM Sans"/>
                  <a:cs typeface="DM Sans"/>
                  <a:sym typeface="DM Sans"/>
                </a:rPr>
                <a:t>Explore local attractions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4213" y="4370252"/>
            <a:ext cx="6918022" cy="2772328"/>
            <a:chOff x="0" y="0"/>
            <a:chExt cx="9224029" cy="3696437"/>
          </a:xfrm>
        </p:grpSpPr>
        <p:grpSp>
          <p:nvGrpSpPr>
            <p:cNvPr name="Group 30" id="30"/>
            <p:cNvGrpSpPr/>
            <p:nvPr/>
          </p:nvGrpSpPr>
          <p:grpSpPr>
            <a:xfrm rot="-10800000">
              <a:off x="162383" y="0"/>
              <a:ext cx="9061646" cy="3696437"/>
              <a:chOff x="0" y="0"/>
              <a:chExt cx="1793314" cy="731531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793314" cy="731531"/>
              </a:xfrm>
              <a:custGeom>
                <a:avLst/>
                <a:gdLst/>
                <a:ahLst/>
                <a:cxnLst/>
                <a:rect r="r" b="b" t="t" l="l"/>
                <a:pathLst>
                  <a:path h="731531" w="1793314">
                    <a:moveTo>
                      <a:pt x="0" y="0"/>
                    </a:moveTo>
                    <a:lnTo>
                      <a:pt x="1793314" y="0"/>
                    </a:lnTo>
                    <a:lnTo>
                      <a:pt x="1793314" y="731531"/>
                    </a:lnTo>
                    <a:lnTo>
                      <a:pt x="0" y="73153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1793314" cy="7791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021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5697689" y="229216"/>
              <a:ext cx="3274763" cy="3279192"/>
              <a:chOff x="0" y="0"/>
              <a:chExt cx="7609708" cy="76200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7609708" cy="7620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0" w="7609708">
                    <a:moveTo>
                      <a:pt x="6817030" y="0"/>
                    </a:moveTo>
                    <a:lnTo>
                      <a:pt x="792678" y="0"/>
                    </a:lnTo>
                    <a:cubicBezTo>
                      <a:pt x="355120" y="0"/>
                      <a:pt x="0" y="355600"/>
                      <a:pt x="0" y="793750"/>
                    </a:cubicBezTo>
                    <a:lnTo>
                      <a:pt x="0" y="7620000"/>
                    </a:lnTo>
                    <a:lnTo>
                      <a:pt x="6817030" y="7620000"/>
                    </a:lnTo>
                    <a:cubicBezTo>
                      <a:pt x="7254588" y="7620000"/>
                      <a:pt x="7609708" y="7264400"/>
                      <a:pt x="7609708" y="6826250"/>
                    </a:cubicBezTo>
                    <a:lnTo>
                      <a:pt x="7609708" y="0"/>
                    </a:lnTo>
                    <a:lnTo>
                      <a:pt x="681703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8357" t="0" r="-41845" b="0"/>
                </a:stretch>
              </a:blipFill>
            </p:spPr>
          </p:sp>
        </p:grpSp>
        <p:sp>
          <p:nvSpPr>
            <p:cNvPr name="TextBox 35" id="35"/>
            <p:cNvSpPr txBox="true"/>
            <p:nvPr/>
          </p:nvSpPr>
          <p:spPr>
            <a:xfrm rot="0">
              <a:off x="0" y="603030"/>
              <a:ext cx="5489368" cy="24454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75"/>
                </a:lnSpc>
                <a:spcBef>
                  <a:spcPct val="0"/>
                </a:spcBef>
              </a:pPr>
              <a:r>
                <a:rPr lang="en-US" sz="2625">
                  <a:solidFill>
                    <a:srgbClr val="1B8EEB"/>
                  </a:solidFill>
                  <a:latin typeface="Quando"/>
                  <a:ea typeface="Quando"/>
                  <a:cs typeface="Quando"/>
                  <a:sym typeface="Quando"/>
                </a:rPr>
                <a:t> KSRTC &amp; fe</a:t>
              </a:r>
              <a:r>
                <a:rPr lang="en-US" sz="2625">
                  <a:solidFill>
                    <a:srgbClr val="1B8EEB"/>
                  </a:solidFill>
                  <a:latin typeface="Quando"/>
                  <a:ea typeface="Quando"/>
                  <a:cs typeface="Quando"/>
                  <a:sym typeface="Quando"/>
                </a:rPr>
                <a:t>eder bus schedules &amp; booking.</a:t>
              </a:r>
            </a:p>
            <a:p>
              <a:pPr algn="r">
                <a:lnSpc>
                  <a:spcPts val="3675"/>
                </a:lnSpc>
                <a:spcBef>
                  <a:spcPct val="0"/>
                </a:spcBef>
              </a:pPr>
            </a:p>
            <a:p>
              <a:pPr algn="r" marL="0" indent="0" lvl="0">
                <a:lnSpc>
                  <a:spcPts val="36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60986" y="1438230"/>
            <a:ext cx="7732139" cy="2732372"/>
            <a:chOff x="0" y="0"/>
            <a:chExt cx="10309519" cy="3643163"/>
          </a:xfrm>
        </p:grpSpPr>
        <p:grpSp>
          <p:nvGrpSpPr>
            <p:cNvPr name="Group 37" id="37"/>
            <p:cNvGrpSpPr/>
            <p:nvPr/>
          </p:nvGrpSpPr>
          <p:grpSpPr>
            <a:xfrm rot="-10800000">
              <a:off x="0" y="0"/>
              <a:ext cx="10309519" cy="3643163"/>
              <a:chOff x="0" y="0"/>
              <a:chExt cx="2040270" cy="720988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040270" cy="720988"/>
              </a:xfrm>
              <a:custGeom>
                <a:avLst/>
                <a:gdLst/>
                <a:ahLst/>
                <a:cxnLst/>
                <a:rect r="r" b="b" t="t" l="l"/>
                <a:pathLst>
                  <a:path h="720988" w="2040270">
                    <a:moveTo>
                      <a:pt x="0" y="0"/>
                    </a:moveTo>
                    <a:lnTo>
                      <a:pt x="2040270" y="0"/>
                    </a:lnTo>
                    <a:lnTo>
                      <a:pt x="2040270" y="720988"/>
                    </a:lnTo>
                    <a:lnTo>
                      <a:pt x="0" y="72098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2040270" cy="768613"/>
              </a:xfrm>
              <a:prstGeom prst="rect">
                <a:avLst/>
              </a:prstGeom>
            </p:spPr>
            <p:txBody>
              <a:bodyPr anchor="ctr" rtlCol="false" tIns="51795" lIns="51795" bIns="51795" rIns="51795"/>
              <a:lstStyle/>
              <a:p>
                <a:pPr algn="ctr" marL="0" indent="0" lvl="0">
                  <a:lnSpc>
                    <a:spcPts val="3021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632023" y="249632"/>
              <a:ext cx="3274763" cy="3143898"/>
              <a:chOff x="0" y="0"/>
              <a:chExt cx="7609708" cy="730561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7609708" cy="7305612"/>
              </a:xfrm>
              <a:custGeom>
                <a:avLst/>
                <a:gdLst/>
                <a:ahLst/>
                <a:cxnLst/>
                <a:rect r="r" b="b" t="t" l="l"/>
                <a:pathLst>
                  <a:path h="7305612" w="7609708">
                    <a:moveTo>
                      <a:pt x="6817030" y="0"/>
                    </a:moveTo>
                    <a:lnTo>
                      <a:pt x="792678" y="0"/>
                    </a:lnTo>
                    <a:cubicBezTo>
                      <a:pt x="355120" y="0"/>
                      <a:pt x="0" y="340929"/>
                      <a:pt x="0" y="761001"/>
                    </a:cubicBezTo>
                    <a:lnTo>
                      <a:pt x="0" y="7305612"/>
                    </a:lnTo>
                    <a:lnTo>
                      <a:pt x="6817030" y="7305612"/>
                    </a:lnTo>
                    <a:cubicBezTo>
                      <a:pt x="7254588" y="7305612"/>
                      <a:pt x="7609708" y="6964683"/>
                      <a:pt x="7609708" y="6544611"/>
                    </a:cubicBezTo>
                    <a:lnTo>
                      <a:pt x="7609708" y="0"/>
                    </a:lnTo>
                    <a:lnTo>
                      <a:pt x="681703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48941" t="0" r="-21732" b="0"/>
                </a:stretch>
              </a:blipFill>
            </p:spPr>
          </p:sp>
        </p:grpSp>
        <p:sp>
          <p:nvSpPr>
            <p:cNvPr name="TextBox 42" id="42"/>
            <p:cNvSpPr txBox="true"/>
            <p:nvPr/>
          </p:nvSpPr>
          <p:spPr>
            <a:xfrm rot="0">
              <a:off x="5154759" y="728650"/>
              <a:ext cx="4591009" cy="17991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5"/>
                </a:lnSpc>
                <a:spcBef>
                  <a:spcPct val="0"/>
                </a:spcBef>
              </a:pPr>
              <a:r>
                <a:rPr lang="en-US" sz="2575">
                  <a:solidFill>
                    <a:srgbClr val="1B8EEB"/>
                  </a:solidFill>
                  <a:latin typeface="Quando"/>
                  <a:ea typeface="Quando"/>
                  <a:cs typeface="Quando"/>
                  <a:sym typeface="Quando"/>
                </a:rPr>
                <a:t>Boo</a:t>
              </a:r>
              <a:r>
                <a:rPr lang="en-US" sz="2575">
                  <a:solidFill>
                    <a:srgbClr val="1B8EEB"/>
                  </a:solidFill>
                  <a:latin typeface="Quando"/>
                  <a:ea typeface="Quando"/>
                  <a:cs typeface="Quando"/>
                  <a:sym typeface="Quando"/>
                </a:rPr>
                <a:t>k Metro &amp; Water Metro tickets in seconds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5154759" y="2657755"/>
              <a:ext cx="4591009" cy="497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14"/>
                </a:lnSpc>
              </a:pPr>
              <a:r>
                <a:rPr lang="en-US" sz="2263" u="none">
                  <a:solidFill>
                    <a:srgbClr val="1B8EEB"/>
                  </a:solidFill>
                  <a:latin typeface="DM Sans"/>
                  <a:ea typeface="DM Sans"/>
                  <a:cs typeface="DM Sans"/>
                  <a:sym typeface="DM Sans"/>
                </a:rPr>
                <a:t>Hassle-free travel options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1116" y="7340195"/>
            <a:ext cx="7948461" cy="2732372"/>
            <a:chOff x="0" y="0"/>
            <a:chExt cx="10597948" cy="3643163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0" y="0"/>
              <a:ext cx="10309519" cy="3643163"/>
              <a:chOff x="0" y="0"/>
              <a:chExt cx="2040270" cy="720988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2040270" cy="720988"/>
              </a:xfrm>
              <a:custGeom>
                <a:avLst/>
                <a:gdLst/>
                <a:ahLst/>
                <a:cxnLst/>
                <a:rect r="r" b="b" t="t" l="l"/>
                <a:pathLst>
                  <a:path h="720988" w="2040270">
                    <a:moveTo>
                      <a:pt x="0" y="0"/>
                    </a:moveTo>
                    <a:lnTo>
                      <a:pt x="2040270" y="0"/>
                    </a:lnTo>
                    <a:lnTo>
                      <a:pt x="2040270" y="720988"/>
                    </a:lnTo>
                    <a:lnTo>
                      <a:pt x="0" y="72098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2040270" cy="7686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021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258644" y="142791"/>
              <a:ext cx="3274763" cy="3249612"/>
              <a:chOff x="0" y="0"/>
              <a:chExt cx="7609708" cy="7551265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7609708" cy="7551265"/>
              </a:xfrm>
              <a:custGeom>
                <a:avLst/>
                <a:gdLst/>
                <a:ahLst/>
                <a:cxnLst/>
                <a:rect r="r" b="b" t="t" l="l"/>
                <a:pathLst>
                  <a:path h="7551265" w="7609708">
                    <a:moveTo>
                      <a:pt x="6817030" y="0"/>
                    </a:moveTo>
                    <a:lnTo>
                      <a:pt x="792678" y="0"/>
                    </a:lnTo>
                    <a:cubicBezTo>
                      <a:pt x="355120" y="0"/>
                      <a:pt x="0" y="352392"/>
                      <a:pt x="0" y="786590"/>
                    </a:cubicBezTo>
                    <a:lnTo>
                      <a:pt x="0" y="7551265"/>
                    </a:lnTo>
                    <a:lnTo>
                      <a:pt x="6817030" y="7551265"/>
                    </a:lnTo>
                    <a:cubicBezTo>
                      <a:pt x="7254588" y="7551265"/>
                      <a:pt x="7609708" y="7198873"/>
                      <a:pt x="7609708" y="6764675"/>
                    </a:cubicBezTo>
                    <a:lnTo>
                      <a:pt x="7609708" y="0"/>
                    </a:lnTo>
                    <a:lnTo>
                      <a:pt x="681703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50648" t="0" r="-8571" b="0"/>
                </a:stretch>
              </a:blipFill>
            </p:spPr>
          </p:sp>
        </p:grpSp>
        <p:sp>
          <p:nvSpPr>
            <p:cNvPr name="TextBox 50" id="50"/>
            <p:cNvSpPr txBox="true"/>
            <p:nvPr/>
          </p:nvSpPr>
          <p:spPr>
            <a:xfrm rot="0">
              <a:off x="3906785" y="808427"/>
              <a:ext cx="6691162" cy="1202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5"/>
                </a:lnSpc>
                <a:spcBef>
                  <a:spcPct val="0"/>
                </a:spcBef>
              </a:pPr>
              <a:r>
                <a:rPr lang="en-US" sz="2625">
                  <a:solidFill>
                    <a:srgbClr val="1B8EEB"/>
                  </a:solidFill>
                  <a:latin typeface="Quando"/>
                  <a:ea typeface="Quando"/>
                  <a:cs typeface="Quando"/>
                  <a:sym typeface="Quando"/>
                </a:rPr>
                <a:t>Digital metr</a:t>
              </a:r>
              <a:r>
                <a:rPr lang="en-US" sz="2625">
                  <a:solidFill>
                    <a:srgbClr val="1B8EEB"/>
                  </a:solidFill>
                  <a:latin typeface="Quando"/>
                  <a:ea typeface="Quando"/>
                  <a:cs typeface="Quando"/>
                  <a:sym typeface="Quando"/>
                </a:rPr>
                <a:t>o card for cashless travel &amp; dining.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3906785" y="2172428"/>
              <a:ext cx="6691162" cy="50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77"/>
                </a:lnSpc>
              </a:pPr>
              <a:r>
                <a:rPr lang="en-US" sz="2308" u="none">
                  <a:solidFill>
                    <a:srgbClr val="1B8EEB"/>
                  </a:solidFill>
                  <a:latin typeface="DM Sans"/>
                  <a:ea typeface="DM Sans"/>
                  <a:cs typeface="DM Sans"/>
                  <a:sym typeface="DM Sans"/>
                </a:rPr>
                <a:t>Explore local attractions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4150229" y="51545"/>
            <a:ext cx="11177975" cy="86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99"/>
              </a:lnSpc>
            </a:pPr>
            <a:r>
              <a:rPr lang="en-US" sz="5460">
                <a:solidFill>
                  <a:srgbClr val="1B8EEB"/>
                </a:solidFill>
                <a:latin typeface="Quando"/>
                <a:ea typeface="Quando"/>
                <a:cs typeface="Quando"/>
                <a:sym typeface="Quando"/>
              </a:rPr>
              <a:t>Key Features of TravelOne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4213" y="5708791"/>
            <a:ext cx="4117026" cy="391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77"/>
              </a:lnSpc>
            </a:pPr>
            <a:r>
              <a:rPr lang="en-US" sz="2308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Easy Access to Bookings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8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521444"/>
            <a:chOff x="0" y="0"/>
            <a:chExt cx="4274726" cy="22443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244331"/>
            </a:xfrm>
            <a:custGeom>
              <a:avLst/>
              <a:gdLst/>
              <a:ahLst/>
              <a:cxnLst/>
              <a:rect r="r" b="b" t="t" l="l"/>
              <a:pathLst>
                <a:path h="2244331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244331"/>
                  </a:lnTo>
                  <a:lnTo>
                    <a:pt x="0" y="22443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274726" cy="2301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52492" y="1028700"/>
            <a:ext cx="7006808" cy="8229600"/>
            <a:chOff x="0" y="0"/>
            <a:chExt cx="1845414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45414" cy="2167467"/>
            </a:xfrm>
            <a:custGeom>
              <a:avLst/>
              <a:gdLst/>
              <a:ahLst/>
              <a:cxnLst/>
              <a:rect r="r" b="b" t="t" l="l"/>
              <a:pathLst>
                <a:path h="2167467" w="1845414">
                  <a:moveTo>
                    <a:pt x="0" y="0"/>
                  </a:moveTo>
                  <a:lnTo>
                    <a:pt x="1845414" y="0"/>
                  </a:lnTo>
                  <a:lnTo>
                    <a:pt x="184541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845414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505906" y="1232180"/>
            <a:ext cx="6499980" cy="7822641"/>
            <a:chOff x="0" y="0"/>
            <a:chExt cx="6144615" cy="73949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44616" cy="7394965"/>
            </a:xfrm>
            <a:custGeom>
              <a:avLst/>
              <a:gdLst/>
              <a:ahLst/>
              <a:cxnLst/>
              <a:rect r="r" b="b" t="t" l="l"/>
              <a:pathLst>
                <a:path h="7394965" w="6144616">
                  <a:moveTo>
                    <a:pt x="5504551" y="0"/>
                  </a:moveTo>
                  <a:lnTo>
                    <a:pt x="640064" y="0"/>
                  </a:lnTo>
                  <a:cubicBezTo>
                    <a:pt x="286749" y="0"/>
                    <a:pt x="0" y="345098"/>
                    <a:pt x="0" y="770309"/>
                  </a:cubicBezTo>
                  <a:lnTo>
                    <a:pt x="0" y="7394965"/>
                  </a:lnTo>
                  <a:lnTo>
                    <a:pt x="5504551" y="7394965"/>
                  </a:lnTo>
                  <a:cubicBezTo>
                    <a:pt x="5857867" y="7394965"/>
                    <a:pt x="6144616" y="7049867"/>
                    <a:pt x="6144616" y="6624656"/>
                  </a:cubicBezTo>
                  <a:lnTo>
                    <a:pt x="6144616" y="0"/>
                  </a:lnTo>
                  <a:lnTo>
                    <a:pt x="5504551" y="0"/>
                  </a:lnTo>
                  <a:close/>
                </a:path>
              </a:pathLst>
            </a:custGeom>
            <a:blipFill>
              <a:blip r:embed="rId2"/>
              <a:stretch>
                <a:fillRect l="-10174" t="0" r="-10174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7645155" y="-733612"/>
            <a:ext cx="8673855" cy="1762312"/>
            <a:chOff x="0" y="0"/>
            <a:chExt cx="2284472" cy="4641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4472" cy="464148"/>
            </a:xfrm>
            <a:custGeom>
              <a:avLst/>
              <a:gdLst/>
              <a:ahLst/>
              <a:cxnLst/>
              <a:rect r="r" b="b" t="t" l="l"/>
              <a:pathLst>
                <a:path h="464148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64148"/>
                  </a:lnTo>
                  <a:lnTo>
                    <a:pt x="0" y="4641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284472" cy="521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0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7645155" y="9258300"/>
            <a:ext cx="8673855" cy="1762312"/>
            <a:chOff x="0" y="0"/>
            <a:chExt cx="2284472" cy="4641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4472" cy="464148"/>
            </a:xfrm>
            <a:custGeom>
              <a:avLst/>
              <a:gdLst/>
              <a:ahLst/>
              <a:cxnLst/>
              <a:rect r="r" b="b" t="t" l="l"/>
              <a:pathLst>
                <a:path h="464148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64148"/>
                  </a:lnTo>
                  <a:lnTo>
                    <a:pt x="0" y="4641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284472" cy="521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0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259300" y="-733612"/>
            <a:ext cx="8673855" cy="1762312"/>
            <a:chOff x="0" y="0"/>
            <a:chExt cx="2284472" cy="4641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84472" cy="464148"/>
            </a:xfrm>
            <a:custGeom>
              <a:avLst/>
              <a:gdLst/>
              <a:ahLst/>
              <a:cxnLst/>
              <a:rect r="r" b="b" t="t" l="l"/>
              <a:pathLst>
                <a:path h="464148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64148"/>
                  </a:lnTo>
                  <a:lnTo>
                    <a:pt x="0" y="4641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284472" cy="521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0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259300" y="9258300"/>
            <a:ext cx="8673855" cy="1762312"/>
            <a:chOff x="0" y="0"/>
            <a:chExt cx="2284472" cy="4641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84472" cy="464148"/>
            </a:xfrm>
            <a:custGeom>
              <a:avLst/>
              <a:gdLst/>
              <a:ahLst/>
              <a:cxnLst/>
              <a:rect r="r" b="b" t="t" l="l"/>
              <a:pathLst>
                <a:path h="464148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64148"/>
                  </a:lnTo>
                  <a:lnTo>
                    <a:pt x="0" y="4641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284472" cy="521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04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653336" y="4537944"/>
            <a:ext cx="8852571" cy="337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9"/>
              </a:lnSpc>
              <a:spcBef>
                <a:spcPct val="0"/>
              </a:spcBef>
            </a:pPr>
            <a:r>
              <a:rPr lang="en-US" b="true" sz="2756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Front</a:t>
            </a:r>
            <a:r>
              <a:rPr lang="en-US" b="true" sz="2756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end: Figma / React Native (cross-platform).</a:t>
            </a:r>
          </a:p>
          <a:p>
            <a:pPr algn="l" marL="0" indent="0" lvl="0">
              <a:lnSpc>
                <a:spcPts val="38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59"/>
              </a:lnSpc>
              <a:spcBef>
                <a:spcPct val="0"/>
              </a:spcBef>
            </a:pPr>
            <a:r>
              <a:rPr lang="en-US" b="true" sz="2756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Backend: Node.js + Firebase/Cloud DB.</a:t>
            </a:r>
          </a:p>
          <a:p>
            <a:pPr algn="l" marL="0" indent="0" lvl="0">
              <a:lnSpc>
                <a:spcPts val="38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59"/>
              </a:lnSpc>
              <a:spcBef>
                <a:spcPct val="0"/>
              </a:spcBef>
            </a:pPr>
            <a:r>
              <a:rPr lang="en-US" b="true" sz="2756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APIs: Metro, Water Metro, KSRTC, Tourism, Hotels.</a:t>
            </a:r>
          </a:p>
          <a:p>
            <a:pPr algn="l" marL="0" indent="0" lvl="0">
              <a:lnSpc>
                <a:spcPts val="38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59"/>
              </a:lnSpc>
              <a:spcBef>
                <a:spcPct val="0"/>
              </a:spcBef>
            </a:pPr>
            <a:r>
              <a:rPr lang="en-US" b="true" sz="2756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Payments: UPI / QR linked to Metro Card Wallet.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53336" y="2148616"/>
            <a:ext cx="8599157" cy="174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01"/>
              </a:lnSpc>
            </a:pPr>
            <a:r>
              <a:rPr lang="en-US" sz="5308">
                <a:solidFill>
                  <a:srgbClr val="1B8EEB"/>
                </a:solidFill>
                <a:latin typeface="Quando"/>
                <a:ea typeface="Quando"/>
                <a:cs typeface="Quando"/>
                <a:sym typeface="Quando"/>
              </a:rPr>
              <a:t>Technical Tools Overview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48716"/>
            <a:ext cx="16230600" cy="6709584"/>
            <a:chOff x="0" y="0"/>
            <a:chExt cx="4274726" cy="1767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767133"/>
            </a:xfrm>
            <a:custGeom>
              <a:avLst/>
              <a:gdLst/>
              <a:ahLst/>
              <a:cxnLst/>
              <a:rect r="r" b="b" t="t" l="l"/>
              <a:pathLst>
                <a:path h="176713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767133"/>
                  </a:lnTo>
                  <a:lnTo>
                    <a:pt x="0" y="1767133"/>
                  </a:lnTo>
                  <a:close/>
                </a:path>
              </a:pathLst>
            </a:custGeom>
            <a:solidFill>
              <a:srgbClr val="AEF1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274726" cy="1814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898713" y="-1131949"/>
            <a:ext cx="8673855" cy="1693645"/>
            <a:chOff x="0" y="0"/>
            <a:chExt cx="2284472" cy="4460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4472" cy="446063"/>
            </a:xfrm>
            <a:custGeom>
              <a:avLst/>
              <a:gdLst/>
              <a:ahLst/>
              <a:cxnLst/>
              <a:rect r="r" b="b" t="t" l="l"/>
              <a:pathLst>
                <a:path h="446063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46063"/>
                  </a:lnTo>
                  <a:lnTo>
                    <a:pt x="0" y="446063"/>
                  </a:lnTo>
                  <a:close/>
                </a:path>
              </a:pathLst>
            </a:custGeom>
            <a:solidFill>
              <a:srgbClr val="AEF1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84472" cy="493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786196" y="-1057183"/>
            <a:ext cx="8673855" cy="1618880"/>
            <a:chOff x="0" y="0"/>
            <a:chExt cx="2284472" cy="4263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4472" cy="426372"/>
            </a:xfrm>
            <a:custGeom>
              <a:avLst/>
              <a:gdLst/>
              <a:ahLst/>
              <a:cxnLst/>
              <a:rect r="r" b="b" t="t" l="l"/>
              <a:pathLst>
                <a:path h="426372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26372"/>
                  </a:lnTo>
                  <a:lnTo>
                    <a:pt x="0" y="426372"/>
                  </a:lnTo>
                  <a:close/>
                </a:path>
              </a:pathLst>
            </a:custGeom>
            <a:solidFill>
              <a:srgbClr val="AEF1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84472" cy="473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779964" y="2941233"/>
          <a:ext cx="14728071" cy="5875909"/>
        </p:xfrm>
        <a:graphic>
          <a:graphicData uri="http://schemas.openxmlformats.org/drawingml/2006/table">
            <a:tbl>
              <a:tblPr/>
              <a:tblGrid>
                <a:gridCol w="6353595"/>
                <a:gridCol w="8374476"/>
              </a:tblGrid>
              <a:tr h="9844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Travellers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Hassle-free, affordable trips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82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Kochi Metro &amp; Water Metro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Higher ridership &amp; metro-card use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82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KSRTC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More Passengers via Feeder Routes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82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Hotels &amp; Restaurants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New Sales Channels &amp; Discounts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82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Local Guides / Drivers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Steady Jobs &amp; Ratings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82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Kerala Tourism Dept.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More visitors &amp; 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1028700" y="771247"/>
            <a:ext cx="13492883" cy="1566361"/>
            <a:chOff x="0" y="0"/>
            <a:chExt cx="17990511" cy="208848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541322"/>
              <a:ext cx="17990511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B8EEB"/>
                  </a:solidFill>
                  <a:latin typeface="DM Sans"/>
                  <a:ea typeface="DM Sans"/>
                  <a:cs typeface="DM Sans"/>
                  <a:sym typeface="DM Sans"/>
                </a:rPr>
                <a:t>Understanding the impact on users, businesses, and the city.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17990511" cy="1355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19"/>
                </a:lnSpc>
              </a:pPr>
              <a:r>
                <a:rPr lang="en-US" sz="6399">
                  <a:solidFill>
                    <a:srgbClr val="1B8EEB"/>
                  </a:solidFill>
                  <a:latin typeface="Quando"/>
                  <a:ea typeface="Quando"/>
                  <a:cs typeface="Quando"/>
                  <a:sym typeface="Quando"/>
                </a:rPr>
                <a:t>Stakeholders &amp; Benefits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49269" y="9829800"/>
            <a:ext cx="8673855" cy="1693645"/>
            <a:chOff x="0" y="0"/>
            <a:chExt cx="2284472" cy="4460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84472" cy="446063"/>
            </a:xfrm>
            <a:custGeom>
              <a:avLst/>
              <a:gdLst/>
              <a:ahLst/>
              <a:cxnLst/>
              <a:rect r="r" b="b" t="t" l="l"/>
              <a:pathLst>
                <a:path h="446063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46063"/>
                  </a:lnTo>
                  <a:lnTo>
                    <a:pt x="0" y="446063"/>
                  </a:lnTo>
                  <a:close/>
                </a:path>
              </a:pathLst>
            </a:custGeom>
            <a:solidFill>
              <a:srgbClr val="AEF1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284472" cy="493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5027517" y="9829800"/>
            <a:ext cx="8673855" cy="1618880"/>
            <a:chOff x="0" y="0"/>
            <a:chExt cx="2284472" cy="4263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84472" cy="426372"/>
            </a:xfrm>
            <a:custGeom>
              <a:avLst/>
              <a:gdLst/>
              <a:ahLst/>
              <a:cxnLst/>
              <a:rect r="r" b="b" t="t" l="l"/>
              <a:pathLst>
                <a:path h="426372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26372"/>
                  </a:lnTo>
                  <a:lnTo>
                    <a:pt x="0" y="426372"/>
                  </a:lnTo>
                  <a:close/>
                </a:path>
              </a:pathLst>
            </a:custGeom>
            <a:solidFill>
              <a:srgbClr val="AEF1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284472" cy="473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28427" y="0"/>
            <a:ext cx="19116427" cy="3556674"/>
            <a:chOff x="0" y="0"/>
            <a:chExt cx="7728307" cy="14378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28307" cy="1437877"/>
            </a:xfrm>
            <a:custGeom>
              <a:avLst/>
              <a:gdLst/>
              <a:ahLst/>
              <a:cxnLst/>
              <a:rect r="r" b="b" t="t" l="l"/>
              <a:pathLst>
                <a:path h="1437877" w="7728307">
                  <a:moveTo>
                    <a:pt x="0" y="0"/>
                  </a:moveTo>
                  <a:lnTo>
                    <a:pt x="7728307" y="0"/>
                  </a:lnTo>
                  <a:lnTo>
                    <a:pt x="7728307" y="1437877"/>
                  </a:lnTo>
                  <a:lnTo>
                    <a:pt x="0" y="1437877"/>
                  </a:lnTo>
                  <a:close/>
                </a:path>
              </a:pathLst>
            </a:custGeom>
            <a:solidFill>
              <a:srgbClr val="1B8E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6934" y="424936"/>
            <a:ext cx="17041208" cy="2706803"/>
            <a:chOff x="0" y="0"/>
            <a:chExt cx="5117142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17142" cy="812800"/>
            </a:xfrm>
            <a:custGeom>
              <a:avLst/>
              <a:gdLst/>
              <a:ahLst/>
              <a:cxnLst/>
              <a:rect r="r" b="b" t="t" l="l"/>
              <a:pathLst>
                <a:path h="812800" w="5117142">
                  <a:moveTo>
                    <a:pt x="24533" y="0"/>
                  </a:moveTo>
                  <a:lnTo>
                    <a:pt x="5092609" y="0"/>
                  </a:lnTo>
                  <a:cubicBezTo>
                    <a:pt x="5099116" y="0"/>
                    <a:pt x="5105356" y="2585"/>
                    <a:pt x="5109957" y="7185"/>
                  </a:cubicBezTo>
                  <a:cubicBezTo>
                    <a:pt x="5114557" y="11786"/>
                    <a:pt x="5117142" y="18026"/>
                    <a:pt x="5117142" y="24533"/>
                  </a:cubicBezTo>
                  <a:lnTo>
                    <a:pt x="5117142" y="788267"/>
                  </a:lnTo>
                  <a:cubicBezTo>
                    <a:pt x="5117142" y="801816"/>
                    <a:pt x="5106158" y="812800"/>
                    <a:pt x="5092609" y="812800"/>
                  </a:cubicBezTo>
                  <a:lnTo>
                    <a:pt x="24533" y="812800"/>
                  </a:lnTo>
                  <a:cubicBezTo>
                    <a:pt x="18026" y="812800"/>
                    <a:pt x="11786" y="810215"/>
                    <a:pt x="7185" y="805615"/>
                  </a:cubicBezTo>
                  <a:cubicBezTo>
                    <a:pt x="2585" y="801014"/>
                    <a:pt x="0" y="794774"/>
                    <a:pt x="0" y="788267"/>
                  </a:cubicBezTo>
                  <a:lnTo>
                    <a:pt x="0" y="24533"/>
                  </a:lnTo>
                  <a:cubicBezTo>
                    <a:pt x="0" y="18026"/>
                    <a:pt x="2585" y="11786"/>
                    <a:pt x="7185" y="7185"/>
                  </a:cubicBezTo>
                  <a:cubicBezTo>
                    <a:pt x="11786" y="2585"/>
                    <a:pt x="18026" y="0"/>
                    <a:pt x="2453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44759" r="0" b="-10858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3556674"/>
            <a:ext cx="15766183" cy="3238498"/>
            <a:chOff x="0" y="0"/>
            <a:chExt cx="4152410" cy="8529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52410" cy="852938"/>
            </a:xfrm>
            <a:custGeom>
              <a:avLst/>
              <a:gdLst/>
              <a:ahLst/>
              <a:cxnLst/>
              <a:rect r="r" b="b" t="t" l="l"/>
              <a:pathLst>
                <a:path h="852938" w="4152410">
                  <a:moveTo>
                    <a:pt x="0" y="0"/>
                  </a:moveTo>
                  <a:lnTo>
                    <a:pt x="4152410" y="0"/>
                  </a:lnTo>
                  <a:lnTo>
                    <a:pt x="4152410" y="852938"/>
                  </a:lnTo>
                  <a:lnTo>
                    <a:pt x="0" y="852938"/>
                  </a:lnTo>
                  <a:close/>
                </a:path>
              </a:pathLst>
            </a:custGeom>
            <a:solidFill>
              <a:srgbClr val="AEF1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152410" cy="900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968907" y="9258300"/>
            <a:ext cx="2997607" cy="2463127"/>
            <a:chOff x="0" y="0"/>
            <a:chExt cx="1674790" cy="13761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74790" cy="1376172"/>
            </a:xfrm>
            <a:custGeom>
              <a:avLst/>
              <a:gdLst/>
              <a:ahLst/>
              <a:cxnLst/>
              <a:rect r="r" b="b" t="t" l="l"/>
              <a:pathLst>
                <a:path h="1376172" w="1674790">
                  <a:moveTo>
                    <a:pt x="0" y="0"/>
                  </a:moveTo>
                  <a:lnTo>
                    <a:pt x="1674790" y="0"/>
                  </a:lnTo>
                  <a:lnTo>
                    <a:pt x="1674790" y="1376172"/>
                  </a:lnTo>
                  <a:lnTo>
                    <a:pt x="0" y="1376172"/>
                  </a:lnTo>
                  <a:close/>
                </a:path>
              </a:pathLst>
            </a:custGeom>
            <a:solidFill>
              <a:srgbClr val="1B8EE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12205" y="5640104"/>
            <a:ext cx="15063589" cy="3977030"/>
            <a:chOff x="0" y="0"/>
            <a:chExt cx="8416165" cy="22220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416165" cy="2222003"/>
            </a:xfrm>
            <a:custGeom>
              <a:avLst/>
              <a:gdLst/>
              <a:ahLst/>
              <a:cxnLst/>
              <a:rect r="r" b="b" t="t" l="l"/>
              <a:pathLst>
                <a:path h="2222003" w="8416165">
                  <a:moveTo>
                    <a:pt x="0" y="0"/>
                  </a:moveTo>
                  <a:lnTo>
                    <a:pt x="8416165" y="0"/>
                  </a:lnTo>
                  <a:lnTo>
                    <a:pt x="8416165" y="2222003"/>
                  </a:lnTo>
                  <a:lnTo>
                    <a:pt x="0" y="22220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259300" y="9258300"/>
            <a:ext cx="8673855" cy="1618880"/>
            <a:chOff x="0" y="0"/>
            <a:chExt cx="2284472" cy="4263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4472" cy="426372"/>
            </a:xfrm>
            <a:custGeom>
              <a:avLst/>
              <a:gdLst/>
              <a:ahLst/>
              <a:cxnLst/>
              <a:rect r="r" b="b" t="t" l="l"/>
              <a:pathLst>
                <a:path h="426372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26372"/>
                  </a:lnTo>
                  <a:lnTo>
                    <a:pt x="0" y="4263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284472" cy="473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12205" y="3556674"/>
            <a:ext cx="15063589" cy="1911979"/>
            <a:chOff x="0" y="0"/>
            <a:chExt cx="8416165" cy="1068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16165" cy="1068240"/>
            </a:xfrm>
            <a:custGeom>
              <a:avLst/>
              <a:gdLst/>
              <a:ahLst/>
              <a:cxnLst/>
              <a:rect r="r" b="b" t="t" l="l"/>
              <a:pathLst>
                <a:path h="1068240" w="8416165">
                  <a:moveTo>
                    <a:pt x="0" y="0"/>
                  </a:moveTo>
                  <a:lnTo>
                    <a:pt x="8416165" y="0"/>
                  </a:lnTo>
                  <a:lnTo>
                    <a:pt x="8416165" y="1068240"/>
                  </a:lnTo>
                  <a:lnTo>
                    <a:pt x="0" y="10682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3473897" y="3679695"/>
            <a:ext cx="11387281" cy="935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87"/>
              </a:lnSpc>
            </a:pPr>
            <a:r>
              <a:rPr lang="en-US" sz="5836">
                <a:solidFill>
                  <a:srgbClr val="1B8EEB"/>
                </a:solidFill>
                <a:latin typeface="Quando"/>
                <a:ea typeface="Quando"/>
                <a:cs typeface="Quando"/>
                <a:sym typeface="Quando"/>
              </a:rPr>
              <a:t>IMPACT AND BENEFITS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36146" y="4694681"/>
            <a:ext cx="11387281" cy="448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11"/>
              </a:lnSpc>
              <a:spcBef>
                <a:spcPct val="0"/>
              </a:spcBef>
            </a:pPr>
            <a:r>
              <a:rPr lang="en-US" sz="2579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Empowering Kochi’s Tourism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72393" y="5954429"/>
            <a:ext cx="13943215" cy="332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5276" indent="-287638" lvl="1">
              <a:lnSpc>
                <a:spcPts val="4449"/>
              </a:lnSpc>
              <a:buFont typeface="Arial"/>
              <a:buChar char="•"/>
            </a:pPr>
            <a:r>
              <a:rPr lang="en-US" b="true" sz="2664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Hig</a:t>
            </a:r>
            <a:r>
              <a:rPr lang="en-US" b="true" sz="2664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her ridership &amp; revenue for Kochi Metro, Water Metro &amp; KSRTC.</a:t>
            </a:r>
          </a:p>
          <a:p>
            <a:pPr algn="l" marL="575276" indent="-287638" lvl="1">
              <a:lnSpc>
                <a:spcPts val="4449"/>
              </a:lnSpc>
              <a:buFont typeface="Arial"/>
              <a:buChar char="•"/>
            </a:pPr>
            <a:r>
              <a:rPr lang="en-US" b="true" sz="2664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Seamless travel — one app for booking, planning &amp; payments.</a:t>
            </a:r>
          </a:p>
          <a:p>
            <a:pPr algn="l" marL="575276" indent="-287638" lvl="1">
              <a:lnSpc>
                <a:spcPts val="4449"/>
              </a:lnSpc>
              <a:buFont typeface="Arial"/>
              <a:buChar char="•"/>
            </a:pPr>
            <a:r>
              <a:rPr lang="en-US" b="true" sz="2664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Better tourist experience with guides, events &amp; discounts.</a:t>
            </a:r>
          </a:p>
          <a:p>
            <a:pPr algn="l" marL="575276" indent="-287638" lvl="1">
              <a:lnSpc>
                <a:spcPts val="4449"/>
              </a:lnSpc>
              <a:buFont typeface="Arial"/>
              <a:buChar char="•"/>
            </a:pPr>
            <a:r>
              <a:rPr lang="en-US" b="true" sz="2664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Boost for hotels, restaurants &amp; local guides through visibility &amp; offers.</a:t>
            </a:r>
          </a:p>
          <a:p>
            <a:pPr algn="l" marL="575276" indent="-287638" lvl="1">
              <a:lnSpc>
                <a:spcPts val="4449"/>
              </a:lnSpc>
              <a:buFont typeface="Arial"/>
              <a:buChar char="•"/>
            </a:pPr>
            <a:r>
              <a:rPr lang="en-US" b="true" sz="2664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Eco-friendly &amp; smart city growth – more jobs, less congestion.</a:t>
            </a:r>
          </a:p>
          <a:p>
            <a:pPr algn="l" marL="575276" indent="-287638" lvl="1">
              <a:lnSpc>
                <a:spcPts val="4449"/>
              </a:lnSpc>
              <a:buFont typeface="Arial"/>
              <a:buChar char="•"/>
            </a:pPr>
            <a:r>
              <a:rPr lang="en-US" b="true" sz="2664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Estimated earning potential: ₹2–3 crore/year (commissions + ads + services).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B8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11254" y="-642065"/>
            <a:ext cx="8673855" cy="1693645"/>
            <a:chOff x="0" y="0"/>
            <a:chExt cx="2284472" cy="446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4472" cy="446063"/>
            </a:xfrm>
            <a:custGeom>
              <a:avLst/>
              <a:gdLst/>
              <a:ahLst/>
              <a:cxnLst/>
              <a:rect r="r" b="b" t="t" l="l"/>
              <a:pathLst>
                <a:path h="446063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46063"/>
                  </a:lnTo>
                  <a:lnTo>
                    <a:pt x="0" y="4460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284472" cy="493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11254" y="9258300"/>
            <a:ext cx="8673855" cy="1693645"/>
            <a:chOff x="0" y="0"/>
            <a:chExt cx="2284472" cy="4460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4472" cy="446063"/>
            </a:xfrm>
            <a:custGeom>
              <a:avLst/>
              <a:gdLst/>
              <a:ahLst/>
              <a:cxnLst/>
              <a:rect r="r" b="b" t="t" l="l"/>
              <a:pathLst>
                <a:path h="446063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46063"/>
                  </a:lnTo>
                  <a:lnTo>
                    <a:pt x="0" y="4460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84472" cy="493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786196" y="-567300"/>
            <a:ext cx="8673855" cy="1618880"/>
            <a:chOff x="0" y="0"/>
            <a:chExt cx="2284472" cy="4263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4472" cy="426372"/>
            </a:xfrm>
            <a:custGeom>
              <a:avLst/>
              <a:gdLst/>
              <a:ahLst/>
              <a:cxnLst/>
              <a:rect r="r" b="b" t="t" l="l"/>
              <a:pathLst>
                <a:path h="426372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26372"/>
                  </a:lnTo>
                  <a:lnTo>
                    <a:pt x="0" y="4263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84472" cy="473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34951" y="9258300"/>
            <a:ext cx="8673855" cy="1693645"/>
            <a:chOff x="0" y="0"/>
            <a:chExt cx="2284472" cy="4460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84472" cy="446063"/>
            </a:xfrm>
            <a:custGeom>
              <a:avLst/>
              <a:gdLst/>
              <a:ahLst/>
              <a:cxnLst/>
              <a:rect r="r" b="b" t="t" l="l"/>
              <a:pathLst>
                <a:path h="446063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46063"/>
                  </a:lnTo>
                  <a:lnTo>
                    <a:pt x="0" y="4460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84472" cy="493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4046835"/>
            <a:ext cx="6219550" cy="208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19"/>
              </a:lnSpc>
            </a:pPr>
            <a:r>
              <a:rPr lang="en-US" sz="6399">
                <a:solidFill>
                  <a:srgbClr val="FFFFFF"/>
                </a:solidFill>
                <a:latin typeface="Quando"/>
                <a:ea typeface="Quando"/>
                <a:cs typeface="Quando"/>
                <a:sym typeface="Quando"/>
              </a:rPr>
              <a:t>Challenges in Implementing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78237" y="4490764"/>
            <a:ext cx="5594156" cy="121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66"/>
              </a:lnSpc>
            </a:pP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A falta de informações de viagem unificadas dificulta a </a:t>
            </a:r>
            <a:r>
              <a:rPr lang="en-US" b="true" sz="2300" u="none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navegação</a:t>
            </a: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 pela cidade.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75685" y="7241590"/>
            <a:ext cx="5594156" cy="121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66"/>
              </a:lnSpc>
            </a:pP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Acesso limitado a experiências culturais enriquece a diversidade turística, como </a:t>
            </a:r>
            <a:r>
              <a:rPr lang="en-US" b="true" sz="2300" u="none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Kathakali</a:t>
            </a: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 e festivais.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80642" y="1785697"/>
            <a:ext cx="5083784" cy="121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66"/>
              </a:lnSpc>
            </a:pPr>
            <a:r>
              <a:rPr lang="en-US" sz="2300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Int</a:t>
            </a: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egration of multiple syst</a:t>
            </a: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 – M</a:t>
            </a: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et</a:t>
            </a:r>
            <a:r>
              <a:rPr lang="en-US" sz="2300" u="none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ro, Water Metro, KSRTC, hotels, tourism APIs.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762600" y="1051580"/>
            <a:ext cx="8023596" cy="2727947"/>
            <a:chOff x="0" y="0"/>
            <a:chExt cx="2113210" cy="7184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13210" cy="718472"/>
            </a:xfrm>
            <a:custGeom>
              <a:avLst/>
              <a:gdLst/>
              <a:ahLst/>
              <a:cxnLst/>
              <a:rect r="r" b="b" t="t" l="l"/>
              <a:pathLst>
                <a:path h="718472" w="2113210">
                  <a:moveTo>
                    <a:pt x="0" y="0"/>
                  </a:moveTo>
                  <a:lnTo>
                    <a:pt x="2113210" y="0"/>
                  </a:lnTo>
                  <a:lnTo>
                    <a:pt x="2113210" y="718472"/>
                  </a:lnTo>
                  <a:lnTo>
                    <a:pt x="0" y="7184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113210" cy="766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248313" y="3856420"/>
            <a:ext cx="8023596" cy="2574161"/>
            <a:chOff x="0" y="0"/>
            <a:chExt cx="2113210" cy="6779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13210" cy="677968"/>
            </a:xfrm>
            <a:custGeom>
              <a:avLst/>
              <a:gdLst/>
              <a:ahLst/>
              <a:cxnLst/>
              <a:rect r="r" b="b" t="t" l="l"/>
              <a:pathLst>
                <a:path h="677968" w="2113210">
                  <a:moveTo>
                    <a:pt x="0" y="0"/>
                  </a:moveTo>
                  <a:lnTo>
                    <a:pt x="2113210" y="0"/>
                  </a:lnTo>
                  <a:lnTo>
                    <a:pt x="2113210" y="677968"/>
                  </a:lnTo>
                  <a:lnTo>
                    <a:pt x="0" y="67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113210" cy="72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762600" y="6507473"/>
            <a:ext cx="8672351" cy="2727947"/>
            <a:chOff x="0" y="0"/>
            <a:chExt cx="2284076" cy="7184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84076" cy="718472"/>
            </a:xfrm>
            <a:custGeom>
              <a:avLst/>
              <a:gdLst/>
              <a:ahLst/>
              <a:cxnLst/>
              <a:rect r="r" b="b" t="t" l="l"/>
              <a:pathLst>
                <a:path h="718472" w="2284076">
                  <a:moveTo>
                    <a:pt x="0" y="0"/>
                  </a:moveTo>
                  <a:lnTo>
                    <a:pt x="2284076" y="0"/>
                  </a:lnTo>
                  <a:lnTo>
                    <a:pt x="2284076" y="718472"/>
                  </a:lnTo>
                  <a:lnTo>
                    <a:pt x="0" y="7184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284076" cy="766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8106663" y="1432665"/>
            <a:ext cx="885340" cy="748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20"/>
              </a:lnSpc>
            </a:pPr>
            <a:r>
              <a:rPr lang="en-US" sz="5500">
                <a:solidFill>
                  <a:srgbClr val="3BA2E9"/>
                </a:solidFill>
                <a:latin typeface="Quando"/>
                <a:ea typeface="Quando"/>
                <a:cs typeface="Quando"/>
                <a:sym typeface="Quando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48313" y="1298131"/>
            <a:ext cx="6607538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9"/>
              </a:lnSpc>
            </a:pPr>
            <a:r>
              <a:rPr lang="en-US" b="true" sz="2499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Integration of multiple systems – Metro, Water Metro, KSRTC, hotels, tourism APIs.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35489" y="2661833"/>
            <a:ext cx="1027688" cy="748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20"/>
              </a:lnSpc>
            </a:pPr>
            <a:r>
              <a:rPr lang="en-US" sz="5500">
                <a:solidFill>
                  <a:srgbClr val="3BA2E9"/>
                </a:solidFill>
                <a:latin typeface="Quando"/>
                <a:ea typeface="Quando"/>
                <a:cs typeface="Quando"/>
                <a:sym typeface="Quando"/>
              </a:rPr>
              <a:t>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55130" y="2621344"/>
            <a:ext cx="6317263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9"/>
              </a:lnSpc>
            </a:pPr>
            <a:r>
              <a:rPr lang="en-US" b="true" sz="2499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User adoption – encouraging commuters &amp; tourists to shift from existing apps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80642" y="4199235"/>
            <a:ext cx="1141650" cy="748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20"/>
              </a:lnSpc>
            </a:pPr>
            <a:r>
              <a:rPr lang="en-US" sz="5500">
                <a:solidFill>
                  <a:srgbClr val="3BA2E9"/>
                </a:solidFill>
                <a:latin typeface="Quando"/>
                <a:ea typeface="Quando"/>
                <a:cs typeface="Quando"/>
                <a:sym typeface="Quando"/>
              </a:rPr>
              <a:t>03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45403" y="4128991"/>
            <a:ext cx="5173864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9"/>
              </a:lnSpc>
            </a:pPr>
            <a:r>
              <a:rPr lang="en-US" b="true" sz="2499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Secure payments &amp; data privacy compliance.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94603" y="5396217"/>
            <a:ext cx="1027688" cy="748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20"/>
              </a:lnSpc>
            </a:pPr>
            <a:r>
              <a:rPr lang="en-US" sz="5500">
                <a:solidFill>
                  <a:srgbClr val="3BA2E9"/>
                </a:solidFill>
                <a:latin typeface="Quando"/>
                <a:ea typeface="Quando"/>
                <a:cs typeface="Quando"/>
                <a:sym typeface="Quando"/>
              </a:rPr>
              <a:t>04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945403" y="5361106"/>
            <a:ext cx="6330712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9"/>
              </a:lnSpc>
            </a:pPr>
            <a:r>
              <a:rPr lang="en-US" b="true" sz="2499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Partnerships with govt &amp; private players for data sharing &amp; discounts.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106663" y="6993248"/>
            <a:ext cx="1141650" cy="748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20"/>
              </a:lnSpc>
            </a:pPr>
            <a:r>
              <a:rPr lang="en-US" sz="5500">
                <a:solidFill>
                  <a:srgbClr val="3BA2E9"/>
                </a:solidFill>
                <a:latin typeface="Quando"/>
                <a:ea typeface="Quando"/>
                <a:cs typeface="Quando"/>
                <a:sym typeface="Quando"/>
              </a:rPr>
              <a:t>05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25242" y="6854544"/>
            <a:ext cx="5083784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9"/>
              </a:lnSpc>
            </a:pPr>
            <a:r>
              <a:rPr lang="en-US" b="true" sz="2499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Maintenance &amp; scalability as services, routes, and offers grow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163644" y="8222417"/>
            <a:ext cx="1027688" cy="748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20"/>
              </a:lnSpc>
            </a:pPr>
            <a:r>
              <a:rPr lang="en-US" sz="5500">
                <a:solidFill>
                  <a:srgbClr val="3BA2E9"/>
                </a:solidFill>
                <a:latin typeface="Quando"/>
                <a:ea typeface="Quando"/>
                <a:cs typeface="Quando"/>
                <a:sym typeface="Quando"/>
              </a:rPr>
              <a:t>06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25242" y="8079542"/>
            <a:ext cx="6709709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9"/>
              </a:lnSpc>
            </a:pPr>
            <a:r>
              <a:rPr lang="en-US" b="true" sz="2499">
                <a:solidFill>
                  <a:srgbClr val="1B8EEB"/>
                </a:solidFill>
                <a:latin typeface="DM Sans Bold"/>
                <a:ea typeface="DM Sans Bold"/>
                <a:cs typeface="DM Sans Bold"/>
                <a:sym typeface="DM Sans Bold"/>
              </a:rPr>
              <a:t>Backend complexity – real-time schedules, payments, and wallet management.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43236" y="419337"/>
            <a:ext cx="1397351" cy="1218726"/>
            <a:chOff x="0" y="0"/>
            <a:chExt cx="368027" cy="3209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8027" cy="320981"/>
            </a:xfrm>
            <a:custGeom>
              <a:avLst/>
              <a:gdLst/>
              <a:ahLst/>
              <a:cxnLst/>
              <a:rect r="r" b="b" t="t" l="l"/>
              <a:pathLst>
                <a:path h="320981" w="368027">
                  <a:moveTo>
                    <a:pt x="0" y="0"/>
                  </a:moveTo>
                  <a:lnTo>
                    <a:pt x="368027" y="0"/>
                  </a:lnTo>
                  <a:lnTo>
                    <a:pt x="368027" y="320981"/>
                  </a:lnTo>
                  <a:lnTo>
                    <a:pt x="0" y="3209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68027" cy="368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2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419337"/>
            <a:ext cx="1397351" cy="1218726"/>
            <a:chOff x="0" y="0"/>
            <a:chExt cx="368027" cy="3209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8027" cy="320981"/>
            </a:xfrm>
            <a:custGeom>
              <a:avLst/>
              <a:gdLst/>
              <a:ahLst/>
              <a:cxnLst/>
              <a:rect r="r" b="b" t="t" l="l"/>
              <a:pathLst>
                <a:path h="320981" w="368027">
                  <a:moveTo>
                    <a:pt x="0" y="0"/>
                  </a:moveTo>
                  <a:lnTo>
                    <a:pt x="368027" y="0"/>
                  </a:lnTo>
                  <a:lnTo>
                    <a:pt x="368027" y="320981"/>
                  </a:lnTo>
                  <a:lnTo>
                    <a:pt x="0" y="3209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68027" cy="368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2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-764053" y="6753092"/>
            <a:ext cx="9562165" cy="2380750"/>
            <a:chOff x="0" y="0"/>
            <a:chExt cx="2895811" cy="7209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95811" cy="720988"/>
            </a:xfrm>
            <a:custGeom>
              <a:avLst/>
              <a:gdLst/>
              <a:ahLst/>
              <a:cxnLst/>
              <a:rect r="r" b="b" t="t" l="l"/>
              <a:pathLst>
                <a:path h="720988" w="2895811">
                  <a:moveTo>
                    <a:pt x="61533" y="0"/>
                  </a:moveTo>
                  <a:lnTo>
                    <a:pt x="2834278" y="0"/>
                  </a:lnTo>
                  <a:cubicBezTo>
                    <a:pt x="2868262" y="0"/>
                    <a:pt x="2895811" y="27549"/>
                    <a:pt x="2895811" y="61533"/>
                  </a:cubicBezTo>
                  <a:lnTo>
                    <a:pt x="2895811" y="659455"/>
                  </a:lnTo>
                  <a:cubicBezTo>
                    <a:pt x="2895811" y="693438"/>
                    <a:pt x="2868262" y="720988"/>
                    <a:pt x="2834278" y="720988"/>
                  </a:cubicBezTo>
                  <a:lnTo>
                    <a:pt x="61533" y="720988"/>
                  </a:lnTo>
                  <a:cubicBezTo>
                    <a:pt x="27549" y="720988"/>
                    <a:pt x="0" y="693438"/>
                    <a:pt x="0" y="659455"/>
                  </a:cubicBezTo>
                  <a:lnTo>
                    <a:pt x="0" y="61533"/>
                  </a:lnTo>
                  <a:cubicBezTo>
                    <a:pt x="0" y="27549"/>
                    <a:pt x="27549" y="0"/>
                    <a:pt x="615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895811" cy="768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2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95235" y="7361197"/>
            <a:ext cx="1162561" cy="1164541"/>
            <a:chOff x="0" y="0"/>
            <a:chExt cx="1550081" cy="155272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550081" cy="1552721"/>
              <a:chOff x="0" y="0"/>
              <a:chExt cx="1081891" cy="108373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67941" y="157953"/>
              <a:ext cx="1292860" cy="1236814"/>
            </a:xfrm>
            <a:custGeom>
              <a:avLst/>
              <a:gdLst/>
              <a:ahLst/>
              <a:cxnLst/>
              <a:rect r="r" b="b" t="t" l="l"/>
              <a:pathLst>
                <a:path h="1236814" w="1292860">
                  <a:moveTo>
                    <a:pt x="0" y="0"/>
                  </a:moveTo>
                  <a:lnTo>
                    <a:pt x="1292860" y="0"/>
                  </a:lnTo>
                  <a:lnTo>
                    <a:pt x="1292860" y="1236814"/>
                  </a:lnTo>
                  <a:lnTo>
                    <a:pt x="0" y="1236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196" t="-16633" r="-11783" b="-15054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71500" y="7228533"/>
            <a:ext cx="5027789" cy="138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2"/>
              </a:lnSpc>
              <a:spcBef>
                <a:spcPct val="0"/>
              </a:spcBef>
            </a:pPr>
            <a:r>
              <a:rPr lang="en-US" sz="2630">
                <a:solidFill>
                  <a:srgbClr val="1B8EEB"/>
                </a:solidFill>
                <a:latin typeface="Quando"/>
                <a:ea typeface="Quando"/>
                <a:cs typeface="Quando"/>
                <a:sym typeface="Quando"/>
              </a:rPr>
              <a:t>A scalable soluti</a:t>
            </a:r>
            <a:r>
              <a:rPr lang="en-US" sz="2630">
                <a:solidFill>
                  <a:srgbClr val="1B8EEB"/>
                </a:solidFill>
                <a:latin typeface="Quando"/>
                <a:ea typeface="Quando"/>
                <a:cs typeface="Quando"/>
                <a:sym typeface="Quando"/>
              </a:rPr>
              <a:t>on that can expand across Kerala’s travel &amp; tourism network.</a:t>
            </a:r>
          </a:p>
        </p:txBody>
      </p:sp>
      <p:grpSp>
        <p:nvGrpSpPr>
          <p:cNvPr name="Group 17" id="17"/>
          <p:cNvGrpSpPr/>
          <p:nvPr/>
        </p:nvGrpSpPr>
        <p:grpSpPr>
          <a:xfrm rot="-10800000">
            <a:off x="9628302" y="6753092"/>
            <a:ext cx="9579098" cy="2380750"/>
            <a:chOff x="0" y="0"/>
            <a:chExt cx="2900939" cy="7209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00939" cy="720988"/>
            </a:xfrm>
            <a:custGeom>
              <a:avLst/>
              <a:gdLst/>
              <a:ahLst/>
              <a:cxnLst/>
              <a:rect r="r" b="b" t="t" l="l"/>
              <a:pathLst>
                <a:path h="720988" w="2900939">
                  <a:moveTo>
                    <a:pt x="61424" y="0"/>
                  </a:moveTo>
                  <a:lnTo>
                    <a:pt x="2839515" y="0"/>
                  </a:lnTo>
                  <a:cubicBezTo>
                    <a:pt x="2855806" y="0"/>
                    <a:pt x="2871429" y="6471"/>
                    <a:pt x="2882948" y="17991"/>
                  </a:cubicBezTo>
                  <a:cubicBezTo>
                    <a:pt x="2894468" y="29510"/>
                    <a:pt x="2900939" y="45133"/>
                    <a:pt x="2900939" y="61424"/>
                  </a:cubicBezTo>
                  <a:lnTo>
                    <a:pt x="2900939" y="659564"/>
                  </a:lnTo>
                  <a:cubicBezTo>
                    <a:pt x="2900939" y="675854"/>
                    <a:pt x="2894468" y="691478"/>
                    <a:pt x="2882948" y="702997"/>
                  </a:cubicBezTo>
                  <a:cubicBezTo>
                    <a:pt x="2871429" y="714516"/>
                    <a:pt x="2855806" y="720988"/>
                    <a:pt x="2839515" y="720988"/>
                  </a:cubicBezTo>
                  <a:lnTo>
                    <a:pt x="61424" y="720988"/>
                  </a:lnTo>
                  <a:cubicBezTo>
                    <a:pt x="45133" y="720988"/>
                    <a:pt x="29510" y="714516"/>
                    <a:pt x="17991" y="702997"/>
                  </a:cubicBezTo>
                  <a:cubicBezTo>
                    <a:pt x="6471" y="691478"/>
                    <a:pt x="0" y="675854"/>
                    <a:pt x="0" y="659564"/>
                  </a:cubicBezTo>
                  <a:lnTo>
                    <a:pt x="0" y="61424"/>
                  </a:lnTo>
                  <a:cubicBezTo>
                    <a:pt x="0" y="45133"/>
                    <a:pt x="6471" y="29510"/>
                    <a:pt x="17991" y="17991"/>
                  </a:cubicBezTo>
                  <a:cubicBezTo>
                    <a:pt x="29510" y="6471"/>
                    <a:pt x="45133" y="0"/>
                    <a:pt x="614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900939" cy="768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2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94181" y="7361197"/>
            <a:ext cx="1246725" cy="1164541"/>
            <a:chOff x="0" y="0"/>
            <a:chExt cx="1662300" cy="1552721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662300" cy="1552721"/>
              <a:chOff x="0" y="0"/>
              <a:chExt cx="1160215" cy="108373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160215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160215">
                    <a:moveTo>
                      <a:pt x="133184" y="0"/>
                    </a:moveTo>
                    <a:lnTo>
                      <a:pt x="1027032" y="0"/>
                    </a:lnTo>
                    <a:cubicBezTo>
                      <a:pt x="1100587" y="0"/>
                      <a:pt x="1160215" y="59628"/>
                      <a:pt x="1160215" y="133184"/>
                    </a:cubicBezTo>
                    <a:lnTo>
                      <a:pt x="1160215" y="950550"/>
                    </a:lnTo>
                    <a:cubicBezTo>
                      <a:pt x="1160215" y="985872"/>
                      <a:pt x="1146184" y="1019748"/>
                      <a:pt x="1121207" y="1044725"/>
                    </a:cubicBezTo>
                    <a:cubicBezTo>
                      <a:pt x="1096230" y="1069702"/>
                      <a:pt x="1062354" y="1083733"/>
                      <a:pt x="1027032" y="1083733"/>
                    </a:cubicBezTo>
                    <a:lnTo>
                      <a:pt x="133184" y="1083733"/>
                    </a:lnTo>
                    <a:cubicBezTo>
                      <a:pt x="97861" y="1083733"/>
                      <a:pt x="63985" y="1069702"/>
                      <a:pt x="39009" y="1044725"/>
                    </a:cubicBezTo>
                    <a:cubicBezTo>
                      <a:pt x="14032" y="1019748"/>
                      <a:pt x="0" y="985872"/>
                      <a:pt x="0" y="950550"/>
                    </a:cubicBezTo>
                    <a:lnTo>
                      <a:pt x="0" y="133184"/>
                    </a:lnTo>
                    <a:cubicBezTo>
                      <a:pt x="0" y="97861"/>
                      <a:pt x="14032" y="63985"/>
                      <a:pt x="39009" y="39009"/>
                    </a:cubicBezTo>
                    <a:cubicBezTo>
                      <a:pt x="63985" y="14032"/>
                      <a:pt x="97861" y="0"/>
                      <a:pt x="133184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9050"/>
                <a:ext cx="1160215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235122" y="164990"/>
              <a:ext cx="1192056" cy="1222741"/>
            </a:xfrm>
            <a:custGeom>
              <a:avLst/>
              <a:gdLst/>
              <a:ahLst/>
              <a:cxnLst/>
              <a:rect r="r" b="b" t="t" l="l"/>
              <a:pathLst>
                <a:path h="1222741" w="1192056">
                  <a:moveTo>
                    <a:pt x="0" y="0"/>
                  </a:moveTo>
                  <a:lnTo>
                    <a:pt x="1192056" y="0"/>
                  </a:lnTo>
                  <a:lnTo>
                    <a:pt x="1192056" y="1222741"/>
                  </a:lnTo>
                  <a:lnTo>
                    <a:pt x="0" y="1222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9966" t="-33413" r="-177970" b="-40686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837730" y="6993192"/>
            <a:ext cx="6503115" cy="185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9"/>
              </a:lnSpc>
              <a:spcBef>
                <a:spcPct val="0"/>
              </a:spcBef>
            </a:pPr>
            <a:r>
              <a:rPr lang="en-US" sz="2635">
                <a:solidFill>
                  <a:srgbClr val="1B8EEB"/>
                </a:solidFill>
                <a:latin typeface="Quando"/>
                <a:ea typeface="Quando"/>
                <a:cs typeface="Quando"/>
                <a:sym typeface="Quando"/>
              </a:rPr>
              <a:t>Boosts</a:t>
            </a:r>
            <a:r>
              <a:rPr lang="en-US" sz="2635">
                <a:solidFill>
                  <a:srgbClr val="1B8EEB"/>
                </a:solidFill>
                <a:latin typeface="Quando"/>
                <a:ea typeface="Quando"/>
                <a:cs typeface="Quando"/>
                <a:sym typeface="Quando"/>
              </a:rPr>
              <a:t> ridership, revenue, and job opportunities, supporting Kochi’s smart-city and green-mobility goals.</a:t>
            </a:r>
          </a:p>
        </p:txBody>
      </p:sp>
      <p:grpSp>
        <p:nvGrpSpPr>
          <p:cNvPr name="Group 26" id="26"/>
          <p:cNvGrpSpPr/>
          <p:nvPr/>
        </p:nvGrpSpPr>
        <p:grpSpPr>
          <a:xfrm rot="-10800000">
            <a:off x="9628302" y="3953125"/>
            <a:ext cx="9562165" cy="2553985"/>
            <a:chOff x="0" y="0"/>
            <a:chExt cx="2895811" cy="7734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95811" cy="773450"/>
            </a:xfrm>
            <a:custGeom>
              <a:avLst/>
              <a:gdLst/>
              <a:ahLst/>
              <a:cxnLst/>
              <a:rect r="r" b="b" t="t" l="l"/>
              <a:pathLst>
                <a:path h="773450" w="2895811">
                  <a:moveTo>
                    <a:pt x="61533" y="0"/>
                  </a:moveTo>
                  <a:lnTo>
                    <a:pt x="2834278" y="0"/>
                  </a:lnTo>
                  <a:cubicBezTo>
                    <a:pt x="2868262" y="0"/>
                    <a:pt x="2895811" y="27549"/>
                    <a:pt x="2895811" y="61533"/>
                  </a:cubicBezTo>
                  <a:lnTo>
                    <a:pt x="2895811" y="711917"/>
                  </a:lnTo>
                  <a:cubicBezTo>
                    <a:pt x="2895811" y="728237"/>
                    <a:pt x="2889328" y="743888"/>
                    <a:pt x="2877788" y="755428"/>
                  </a:cubicBezTo>
                  <a:cubicBezTo>
                    <a:pt x="2866249" y="766967"/>
                    <a:pt x="2850598" y="773450"/>
                    <a:pt x="2834278" y="773450"/>
                  </a:cubicBezTo>
                  <a:lnTo>
                    <a:pt x="61533" y="773450"/>
                  </a:lnTo>
                  <a:cubicBezTo>
                    <a:pt x="27549" y="773450"/>
                    <a:pt x="0" y="745901"/>
                    <a:pt x="0" y="711917"/>
                  </a:cubicBezTo>
                  <a:lnTo>
                    <a:pt x="0" y="61533"/>
                  </a:lnTo>
                  <a:cubicBezTo>
                    <a:pt x="0" y="27549"/>
                    <a:pt x="27549" y="0"/>
                    <a:pt x="615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895811" cy="82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21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178345" y="4690001"/>
            <a:ext cx="1162561" cy="1164541"/>
            <a:chOff x="0" y="0"/>
            <a:chExt cx="1550081" cy="1552721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550081" cy="1552721"/>
              <a:chOff x="0" y="0"/>
              <a:chExt cx="1081891" cy="108373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134718" y="141184"/>
              <a:ext cx="1270352" cy="1270352"/>
            </a:xfrm>
            <a:custGeom>
              <a:avLst/>
              <a:gdLst/>
              <a:ahLst/>
              <a:cxnLst/>
              <a:rect r="r" b="b" t="t" l="l"/>
              <a:pathLst>
                <a:path h="1270352" w="1270352">
                  <a:moveTo>
                    <a:pt x="0" y="0"/>
                  </a:moveTo>
                  <a:lnTo>
                    <a:pt x="1270352" y="0"/>
                  </a:lnTo>
                  <a:lnTo>
                    <a:pt x="1270352" y="1270352"/>
                  </a:lnTo>
                  <a:lnTo>
                    <a:pt x="0" y="1270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837730" y="4560635"/>
            <a:ext cx="5935920" cy="1366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11"/>
              </a:lnSpc>
              <a:spcBef>
                <a:spcPct val="0"/>
              </a:spcBef>
            </a:pPr>
            <a:r>
              <a:rPr lang="en-US" sz="2579">
                <a:solidFill>
                  <a:srgbClr val="1B8EEB"/>
                </a:solidFill>
                <a:latin typeface="Quando"/>
                <a:ea typeface="Quando"/>
                <a:cs typeface="Quando"/>
                <a:sym typeface="Quando"/>
              </a:rPr>
              <a:t>Unifies</a:t>
            </a:r>
            <a:r>
              <a:rPr lang="en-US" sz="2579">
                <a:solidFill>
                  <a:srgbClr val="1B8EEB"/>
                </a:solidFill>
                <a:latin typeface="Quando"/>
                <a:ea typeface="Quando"/>
                <a:cs typeface="Quando"/>
                <a:sym typeface="Quando"/>
              </a:rPr>
              <a:t> Transport, Tourism, and Local Businesses into one smart platform.</a:t>
            </a:r>
          </a:p>
        </p:txBody>
      </p:sp>
      <p:grpSp>
        <p:nvGrpSpPr>
          <p:cNvPr name="Group 35" id="35"/>
          <p:cNvGrpSpPr/>
          <p:nvPr/>
        </p:nvGrpSpPr>
        <p:grpSpPr>
          <a:xfrm rot="-10800000">
            <a:off x="-764053" y="3953125"/>
            <a:ext cx="9562165" cy="2553985"/>
            <a:chOff x="0" y="0"/>
            <a:chExt cx="2895811" cy="7734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895811" cy="773450"/>
            </a:xfrm>
            <a:custGeom>
              <a:avLst/>
              <a:gdLst/>
              <a:ahLst/>
              <a:cxnLst/>
              <a:rect r="r" b="b" t="t" l="l"/>
              <a:pathLst>
                <a:path h="773450" w="2895811">
                  <a:moveTo>
                    <a:pt x="61533" y="0"/>
                  </a:moveTo>
                  <a:lnTo>
                    <a:pt x="2834278" y="0"/>
                  </a:lnTo>
                  <a:cubicBezTo>
                    <a:pt x="2868262" y="0"/>
                    <a:pt x="2895811" y="27549"/>
                    <a:pt x="2895811" y="61533"/>
                  </a:cubicBezTo>
                  <a:lnTo>
                    <a:pt x="2895811" y="711917"/>
                  </a:lnTo>
                  <a:cubicBezTo>
                    <a:pt x="2895811" y="728237"/>
                    <a:pt x="2889328" y="743888"/>
                    <a:pt x="2877788" y="755428"/>
                  </a:cubicBezTo>
                  <a:cubicBezTo>
                    <a:pt x="2866249" y="766967"/>
                    <a:pt x="2850598" y="773450"/>
                    <a:pt x="2834278" y="773450"/>
                  </a:cubicBezTo>
                  <a:lnTo>
                    <a:pt x="61533" y="773450"/>
                  </a:lnTo>
                  <a:cubicBezTo>
                    <a:pt x="27549" y="773450"/>
                    <a:pt x="0" y="745901"/>
                    <a:pt x="0" y="711917"/>
                  </a:cubicBezTo>
                  <a:lnTo>
                    <a:pt x="0" y="61533"/>
                  </a:lnTo>
                  <a:cubicBezTo>
                    <a:pt x="0" y="27549"/>
                    <a:pt x="27549" y="0"/>
                    <a:pt x="615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895811" cy="82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21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095235" y="4690001"/>
            <a:ext cx="1162561" cy="1164541"/>
            <a:chOff x="0" y="0"/>
            <a:chExt cx="1550081" cy="1552721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550081" cy="1552721"/>
              <a:chOff x="0" y="0"/>
              <a:chExt cx="1081891" cy="108373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223110" y="229631"/>
              <a:ext cx="1093459" cy="1093459"/>
            </a:xfrm>
            <a:custGeom>
              <a:avLst/>
              <a:gdLst/>
              <a:ahLst/>
              <a:cxnLst/>
              <a:rect r="r" b="b" t="t" l="l"/>
              <a:pathLst>
                <a:path h="1093459" w="1093459">
                  <a:moveTo>
                    <a:pt x="0" y="0"/>
                  </a:moveTo>
                  <a:lnTo>
                    <a:pt x="1093459" y="0"/>
                  </a:lnTo>
                  <a:lnTo>
                    <a:pt x="1093459" y="1093459"/>
                  </a:lnTo>
                  <a:lnTo>
                    <a:pt x="0" y="1093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664015" y="4560635"/>
            <a:ext cx="5935920" cy="1366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11"/>
              </a:lnSpc>
              <a:spcBef>
                <a:spcPct val="0"/>
              </a:spcBef>
            </a:pPr>
            <a:r>
              <a:rPr lang="en-US" sz="2579">
                <a:solidFill>
                  <a:srgbClr val="1B8EEB"/>
                </a:solidFill>
                <a:latin typeface="Quando"/>
                <a:ea typeface="Quando"/>
                <a:cs typeface="Quando"/>
                <a:sym typeface="Quando"/>
              </a:rPr>
              <a:t>Enables</a:t>
            </a:r>
            <a:r>
              <a:rPr lang="en-US" sz="2579">
                <a:solidFill>
                  <a:srgbClr val="1B8EEB"/>
                </a:solidFill>
                <a:latin typeface="Quando"/>
                <a:ea typeface="Quando"/>
                <a:cs typeface="Quando"/>
                <a:sym typeface="Quando"/>
              </a:rPr>
              <a:t> hassle-free travel, bookings, and payments for residents &amp; tourists.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514350" y="-1298250"/>
            <a:ext cx="17259300" cy="2985174"/>
            <a:chOff x="0" y="0"/>
            <a:chExt cx="6977515" cy="120683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977515" cy="1206833"/>
            </a:xfrm>
            <a:custGeom>
              <a:avLst/>
              <a:gdLst/>
              <a:ahLst/>
              <a:cxnLst/>
              <a:rect r="r" b="b" t="t" l="l"/>
              <a:pathLst>
                <a:path h="1206833" w="6977515">
                  <a:moveTo>
                    <a:pt x="0" y="0"/>
                  </a:moveTo>
                  <a:lnTo>
                    <a:pt x="6977515" y="0"/>
                  </a:lnTo>
                  <a:lnTo>
                    <a:pt x="6977515" y="1206833"/>
                  </a:lnTo>
                  <a:lnTo>
                    <a:pt x="0" y="120683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146587" y="260819"/>
            <a:ext cx="1302542" cy="1302280"/>
            <a:chOff x="0" y="0"/>
            <a:chExt cx="1736722" cy="1736374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842400" cy="843834"/>
              <a:chOff x="0" y="0"/>
              <a:chExt cx="1081891" cy="1083733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50" id="50"/>
            <p:cNvSpPr/>
            <p:nvPr/>
          </p:nvSpPr>
          <p:spPr>
            <a:xfrm flipH="false" flipV="false" rot="0">
              <a:off x="121250" y="124794"/>
              <a:ext cx="594246" cy="594246"/>
            </a:xfrm>
            <a:custGeom>
              <a:avLst/>
              <a:gdLst/>
              <a:ahLst/>
              <a:cxnLst/>
              <a:rect r="r" b="b" t="t" l="l"/>
              <a:pathLst>
                <a:path h="594246" w="594246">
                  <a:moveTo>
                    <a:pt x="0" y="0"/>
                  </a:moveTo>
                  <a:lnTo>
                    <a:pt x="594246" y="0"/>
                  </a:lnTo>
                  <a:lnTo>
                    <a:pt x="594246" y="594246"/>
                  </a:lnTo>
                  <a:lnTo>
                    <a:pt x="0" y="594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51" id="51"/>
            <p:cNvGrpSpPr/>
            <p:nvPr/>
          </p:nvGrpSpPr>
          <p:grpSpPr>
            <a:xfrm rot="0">
              <a:off x="894322" y="0"/>
              <a:ext cx="842400" cy="843834"/>
              <a:chOff x="0" y="0"/>
              <a:chExt cx="1081891" cy="108373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false" flipV="false" rot="0">
              <a:off x="967536" y="76727"/>
              <a:ext cx="690380" cy="690380"/>
            </a:xfrm>
            <a:custGeom>
              <a:avLst/>
              <a:gdLst/>
              <a:ahLst/>
              <a:cxnLst/>
              <a:rect r="r" b="b" t="t" l="l"/>
              <a:pathLst>
                <a:path h="690380" w="690380">
                  <a:moveTo>
                    <a:pt x="0" y="0"/>
                  </a:moveTo>
                  <a:lnTo>
                    <a:pt x="690380" y="0"/>
                  </a:lnTo>
                  <a:lnTo>
                    <a:pt x="690380" y="690380"/>
                  </a:lnTo>
                  <a:lnTo>
                    <a:pt x="0" y="690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55" id="55"/>
            <p:cNvGrpSpPr/>
            <p:nvPr/>
          </p:nvGrpSpPr>
          <p:grpSpPr>
            <a:xfrm rot="0">
              <a:off x="0" y="892539"/>
              <a:ext cx="842400" cy="843834"/>
              <a:chOff x="0" y="0"/>
              <a:chExt cx="1081891" cy="1083733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58" id="58"/>
            <p:cNvSpPr/>
            <p:nvPr/>
          </p:nvSpPr>
          <p:spPr>
            <a:xfrm flipH="false" flipV="false" rot="0">
              <a:off x="91268" y="978380"/>
              <a:ext cx="702612" cy="672153"/>
            </a:xfrm>
            <a:custGeom>
              <a:avLst/>
              <a:gdLst/>
              <a:ahLst/>
              <a:cxnLst/>
              <a:rect r="r" b="b" t="t" l="l"/>
              <a:pathLst>
                <a:path h="672153" w="702612">
                  <a:moveTo>
                    <a:pt x="0" y="0"/>
                  </a:moveTo>
                  <a:lnTo>
                    <a:pt x="702612" y="0"/>
                  </a:lnTo>
                  <a:lnTo>
                    <a:pt x="702612" y="672153"/>
                  </a:lnTo>
                  <a:lnTo>
                    <a:pt x="0" y="672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196" t="-16633" r="-11783" b="-15054"/>
              </a:stretch>
            </a:blipFill>
          </p:spPr>
        </p:sp>
        <p:grpSp>
          <p:nvGrpSpPr>
            <p:cNvPr name="Group 59" id="59"/>
            <p:cNvGrpSpPr/>
            <p:nvPr/>
          </p:nvGrpSpPr>
          <p:grpSpPr>
            <a:xfrm rot="0">
              <a:off x="894322" y="892539"/>
              <a:ext cx="842400" cy="843834"/>
              <a:chOff x="0" y="0"/>
              <a:chExt cx="1081891" cy="1083733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1081891" cy="1083733"/>
              </a:xfrm>
              <a:custGeom>
                <a:avLst/>
                <a:gdLst/>
                <a:ahLst/>
                <a:cxnLst/>
                <a:rect r="r" b="b" t="t" l="l"/>
                <a:pathLst>
                  <a:path h="1083733" w="1081891">
                    <a:moveTo>
                      <a:pt x="142825" y="0"/>
                    </a:moveTo>
                    <a:lnTo>
                      <a:pt x="939066" y="0"/>
                    </a:lnTo>
                    <a:cubicBezTo>
                      <a:pt x="1017946" y="0"/>
                      <a:pt x="1081891" y="63945"/>
                      <a:pt x="1081891" y="142825"/>
                    </a:cubicBezTo>
                    <a:lnTo>
                      <a:pt x="1081891" y="940908"/>
                    </a:lnTo>
                    <a:cubicBezTo>
                      <a:pt x="1081891" y="1019788"/>
                      <a:pt x="1017946" y="1083733"/>
                      <a:pt x="939066" y="1083733"/>
                    </a:cubicBezTo>
                    <a:lnTo>
                      <a:pt x="142825" y="1083733"/>
                    </a:lnTo>
                    <a:cubicBezTo>
                      <a:pt x="63945" y="1083733"/>
                      <a:pt x="0" y="1019788"/>
                      <a:pt x="0" y="940908"/>
                    </a:cubicBezTo>
                    <a:lnTo>
                      <a:pt x="0" y="142825"/>
                    </a:lnTo>
                    <a:cubicBezTo>
                      <a:pt x="0" y="63945"/>
                      <a:pt x="63945" y="0"/>
                      <a:pt x="142825" y="0"/>
                    </a:cubicBezTo>
                    <a:close/>
                  </a:path>
                </a:pathLst>
              </a:custGeom>
              <a:solidFill>
                <a:srgbClr val="1A8EEA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19050"/>
                <a:ext cx="1081891" cy="1102783"/>
              </a:xfrm>
              <a:prstGeom prst="rect">
                <a:avLst/>
              </a:prstGeom>
            </p:spPr>
            <p:txBody>
              <a:bodyPr anchor="ctr" rtlCol="false" tIns="41650" lIns="41650" bIns="41650" rIns="41650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2" id="62"/>
            <p:cNvSpPr/>
            <p:nvPr/>
          </p:nvSpPr>
          <p:spPr>
            <a:xfrm flipH="false" flipV="false" rot="0">
              <a:off x="1013475" y="982204"/>
              <a:ext cx="604095" cy="664505"/>
            </a:xfrm>
            <a:custGeom>
              <a:avLst/>
              <a:gdLst/>
              <a:ahLst/>
              <a:cxnLst/>
              <a:rect r="r" b="b" t="t" l="l"/>
              <a:pathLst>
                <a:path h="664505" w="604095">
                  <a:moveTo>
                    <a:pt x="0" y="0"/>
                  </a:moveTo>
                  <a:lnTo>
                    <a:pt x="604095" y="0"/>
                  </a:lnTo>
                  <a:lnTo>
                    <a:pt x="604095" y="664505"/>
                  </a:lnTo>
                  <a:lnTo>
                    <a:pt x="0" y="6645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57474" t="-33413" r="-194474" b="-40686"/>
              </a:stretch>
            </a:blip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6880619" y="-152236"/>
            <a:ext cx="6235421" cy="183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5"/>
              </a:lnSpc>
            </a:pPr>
            <a:r>
              <a:rPr lang="en-US" sz="10560">
                <a:solidFill>
                  <a:srgbClr val="1A8EEA"/>
                </a:solidFill>
                <a:latin typeface="Ubuntu"/>
                <a:ea typeface="Ubuntu"/>
                <a:cs typeface="Ubuntu"/>
                <a:sym typeface="Ubuntu"/>
              </a:rPr>
              <a:t>TravelOne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839411" y="2213863"/>
            <a:ext cx="11387281" cy="935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87"/>
              </a:lnSpc>
            </a:pPr>
            <a:r>
              <a:rPr lang="en-US" sz="5836">
                <a:solidFill>
                  <a:srgbClr val="1B8EEB"/>
                </a:solidFill>
                <a:latin typeface="Quando"/>
                <a:ea typeface="Quando"/>
                <a:cs typeface="Quando"/>
                <a:sym typeface="Quando"/>
              </a:rPr>
              <a:t>Conclusion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B8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62600" y="1051580"/>
            <a:ext cx="8023596" cy="2727947"/>
            <a:chOff x="0" y="0"/>
            <a:chExt cx="2113210" cy="718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3210" cy="718472"/>
            </a:xfrm>
            <a:custGeom>
              <a:avLst/>
              <a:gdLst/>
              <a:ahLst/>
              <a:cxnLst/>
              <a:rect r="r" b="b" t="t" l="l"/>
              <a:pathLst>
                <a:path h="718472" w="2113210">
                  <a:moveTo>
                    <a:pt x="0" y="0"/>
                  </a:moveTo>
                  <a:lnTo>
                    <a:pt x="2113210" y="0"/>
                  </a:lnTo>
                  <a:lnTo>
                    <a:pt x="2113210" y="718472"/>
                  </a:lnTo>
                  <a:lnTo>
                    <a:pt x="0" y="7184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13210" cy="766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48313" y="3856420"/>
            <a:ext cx="8023596" cy="2574161"/>
            <a:chOff x="0" y="0"/>
            <a:chExt cx="2113210" cy="677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13210" cy="677968"/>
            </a:xfrm>
            <a:custGeom>
              <a:avLst/>
              <a:gdLst/>
              <a:ahLst/>
              <a:cxnLst/>
              <a:rect r="r" b="b" t="t" l="l"/>
              <a:pathLst>
                <a:path h="677968" w="2113210">
                  <a:moveTo>
                    <a:pt x="0" y="0"/>
                  </a:moveTo>
                  <a:lnTo>
                    <a:pt x="2113210" y="0"/>
                  </a:lnTo>
                  <a:lnTo>
                    <a:pt x="2113210" y="677968"/>
                  </a:lnTo>
                  <a:lnTo>
                    <a:pt x="0" y="67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13210" cy="72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762600" y="6507473"/>
            <a:ext cx="8672351" cy="2727947"/>
            <a:chOff x="0" y="0"/>
            <a:chExt cx="2284076" cy="718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4076" cy="718472"/>
            </a:xfrm>
            <a:custGeom>
              <a:avLst/>
              <a:gdLst/>
              <a:ahLst/>
              <a:cxnLst/>
              <a:rect r="r" b="b" t="t" l="l"/>
              <a:pathLst>
                <a:path h="718472" w="2284076">
                  <a:moveTo>
                    <a:pt x="0" y="0"/>
                  </a:moveTo>
                  <a:lnTo>
                    <a:pt x="2284076" y="0"/>
                  </a:lnTo>
                  <a:lnTo>
                    <a:pt x="2284076" y="718472"/>
                  </a:lnTo>
                  <a:lnTo>
                    <a:pt x="0" y="7184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84076" cy="766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911254" y="-642065"/>
            <a:ext cx="8673855" cy="1693645"/>
            <a:chOff x="0" y="0"/>
            <a:chExt cx="2284472" cy="4460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84472" cy="446063"/>
            </a:xfrm>
            <a:custGeom>
              <a:avLst/>
              <a:gdLst/>
              <a:ahLst/>
              <a:cxnLst/>
              <a:rect r="r" b="b" t="t" l="l"/>
              <a:pathLst>
                <a:path h="446063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46063"/>
                  </a:lnTo>
                  <a:lnTo>
                    <a:pt x="0" y="4460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84472" cy="493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911254" y="9258300"/>
            <a:ext cx="8673855" cy="1693645"/>
            <a:chOff x="0" y="0"/>
            <a:chExt cx="2284472" cy="4460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4472" cy="446063"/>
            </a:xfrm>
            <a:custGeom>
              <a:avLst/>
              <a:gdLst/>
              <a:ahLst/>
              <a:cxnLst/>
              <a:rect r="r" b="b" t="t" l="l"/>
              <a:pathLst>
                <a:path h="446063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46063"/>
                  </a:lnTo>
                  <a:lnTo>
                    <a:pt x="0" y="4460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84472" cy="493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786196" y="-567300"/>
            <a:ext cx="8673855" cy="1618880"/>
            <a:chOff x="0" y="0"/>
            <a:chExt cx="2284472" cy="4263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4472" cy="426372"/>
            </a:xfrm>
            <a:custGeom>
              <a:avLst/>
              <a:gdLst/>
              <a:ahLst/>
              <a:cxnLst/>
              <a:rect r="r" b="b" t="t" l="l"/>
              <a:pathLst>
                <a:path h="426372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26372"/>
                  </a:lnTo>
                  <a:lnTo>
                    <a:pt x="0" y="4263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284472" cy="473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434951" y="9258300"/>
            <a:ext cx="8673855" cy="1693645"/>
            <a:chOff x="0" y="0"/>
            <a:chExt cx="2284472" cy="4460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84472" cy="446063"/>
            </a:xfrm>
            <a:custGeom>
              <a:avLst/>
              <a:gdLst/>
              <a:ahLst/>
              <a:cxnLst/>
              <a:rect r="r" b="b" t="t" l="l"/>
              <a:pathLst>
                <a:path h="446063" w="2284472">
                  <a:moveTo>
                    <a:pt x="0" y="0"/>
                  </a:moveTo>
                  <a:lnTo>
                    <a:pt x="2284472" y="0"/>
                  </a:lnTo>
                  <a:lnTo>
                    <a:pt x="2284472" y="446063"/>
                  </a:lnTo>
                  <a:lnTo>
                    <a:pt x="0" y="4460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284472" cy="493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66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23255" y="4069715"/>
            <a:ext cx="7339345" cy="208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19"/>
              </a:lnSpc>
            </a:pPr>
            <a:r>
              <a:rPr lang="en-US" sz="6399">
                <a:solidFill>
                  <a:srgbClr val="FFFFFF"/>
                </a:solidFill>
                <a:latin typeface="Quando"/>
                <a:ea typeface="Quando"/>
                <a:cs typeface="Quando"/>
                <a:sym typeface="Quando"/>
              </a:rPr>
              <a:t>Reasearch and References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06663" y="1432665"/>
            <a:ext cx="885340" cy="748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20"/>
              </a:lnSpc>
            </a:pPr>
            <a:r>
              <a:rPr lang="en-US" sz="5500">
                <a:solidFill>
                  <a:srgbClr val="3BA2E9"/>
                </a:solidFill>
                <a:latin typeface="Quando"/>
                <a:ea typeface="Quando"/>
                <a:cs typeface="Quando"/>
                <a:sym typeface="Quando"/>
              </a:rPr>
              <a:t>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68933" y="1448011"/>
            <a:ext cx="5083784" cy="56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5"/>
              </a:lnSpc>
            </a:pPr>
            <a:r>
              <a:rPr lang="en-US" sz="3299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Aanavandi.com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35489" y="2661833"/>
            <a:ext cx="1027688" cy="748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20"/>
              </a:lnSpc>
            </a:pPr>
            <a:r>
              <a:rPr lang="en-US" sz="5500">
                <a:solidFill>
                  <a:srgbClr val="3BA2E9"/>
                </a:solidFill>
                <a:latin typeface="Quando"/>
                <a:ea typeface="Quando"/>
                <a:cs typeface="Quando"/>
                <a:sym typeface="Quando"/>
              </a:rPr>
              <a:t>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68933" y="2677179"/>
            <a:ext cx="5083784" cy="56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5"/>
              </a:lnSpc>
            </a:pPr>
            <a:r>
              <a:rPr lang="en-US" sz="3299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Busevide.in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03753" y="4174840"/>
            <a:ext cx="1141650" cy="748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20"/>
              </a:lnSpc>
            </a:pPr>
            <a:r>
              <a:rPr lang="en-US" sz="5500">
                <a:solidFill>
                  <a:srgbClr val="3BA2E9"/>
                </a:solidFill>
                <a:latin typeface="Quando"/>
                <a:ea typeface="Quando"/>
                <a:cs typeface="Quando"/>
                <a:sym typeface="Quando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22332" y="4190186"/>
            <a:ext cx="5083784" cy="56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5"/>
              </a:lnSpc>
            </a:pPr>
            <a:r>
              <a:rPr lang="en-US" sz="3299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Kochimetro.org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60734" y="5404009"/>
            <a:ext cx="1027688" cy="748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20"/>
              </a:lnSpc>
            </a:pPr>
            <a:r>
              <a:rPr lang="en-US" sz="5500">
                <a:solidFill>
                  <a:srgbClr val="3BA2E9"/>
                </a:solidFill>
                <a:latin typeface="Quando"/>
                <a:ea typeface="Quando"/>
                <a:cs typeface="Quando"/>
                <a:sym typeface="Quando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22332" y="5419355"/>
            <a:ext cx="5083784" cy="56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5"/>
              </a:lnSpc>
            </a:pPr>
            <a:r>
              <a:rPr lang="en-US" sz="3299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Keralartc.in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106663" y="6993248"/>
            <a:ext cx="1141650" cy="748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20"/>
              </a:lnSpc>
            </a:pPr>
            <a:r>
              <a:rPr lang="en-US" sz="5500">
                <a:solidFill>
                  <a:srgbClr val="3BA2E9"/>
                </a:solidFill>
                <a:latin typeface="Quando"/>
                <a:ea typeface="Quando"/>
                <a:cs typeface="Quando"/>
                <a:sym typeface="Quando"/>
              </a:rPr>
              <a:t>05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25242" y="6783932"/>
            <a:ext cx="5083784" cy="10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17"/>
              </a:lnSpc>
            </a:pPr>
            <a:r>
              <a:rPr lang="en-US" sz="2899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Development Plan for Kochi City Region 2031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163644" y="8222417"/>
            <a:ext cx="1027688" cy="748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20"/>
              </a:lnSpc>
            </a:pPr>
            <a:r>
              <a:rPr lang="en-US" sz="5500">
                <a:solidFill>
                  <a:srgbClr val="3BA2E9"/>
                </a:solidFill>
                <a:latin typeface="Quando"/>
                <a:ea typeface="Quando"/>
                <a:cs typeface="Quando"/>
                <a:sym typeface="Quando"/>
              </a:rPr>
              <a:t>06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25242" y="8237763"/>
            <a:ext cx="5083784" cy="56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5"/>
              </a:lnSpc>
            </a:pPr>
            <a:r>
              <a:rPr lang="en-US" sz="3299">
                <a:solidFill>
                  <a:srgbClr val="1B8EEB"/>
                </a:solidFill>
                <a:latin typeface="DM Sans"/>
                <a:ea typeface="DM Sans"/>
                <a:cs typeface="DM Sans"/>
                <a:sym typeface="DM Sans"/>
              </a:rPr>
              <a:t>Indiastat.com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B8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28675"/>
            <a:ext cx="16230600" cy="346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91"/>
              </a:lnSpc>
            </a:pPr>
            <a:r>
              <a:rPr lang="en-US" sz="21608">
                <a:solidFill>
                  <a:srgbClr val="FFFFFF"/>
                </a:solidFill>
                <a:latin typeface="Quando"/>
                <a:ea typeface="Quando"/>
                <a:cs typeface="Quando"/>
                <a:sym typeface="Quando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81107" y="4165399"/>
            <a:ext cx="9925786" cy="174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40"/>
              </a:lnSpc>
            </a:pPr>
            <a:r>
              <a:rPr lang="en-US" sz="100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Team </a:t>
            </a:r>
            <a:r>
              <a:rPr lang="en-US" sz="100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HackHive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596509"/>
            <a:ext cx="6701938" cy="2661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5"/>
              </a:lnSpc>
            </a:pPr>
            <a:r>
              <a:rPr lang="en-US" sz="498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Aakash Raj</a:t>
            </a:r>
          </a:p>
          <a:p>
            <a:pPr algn="ctr">
              <a:lnSpc>
                <a:spcPts val="7085"/>
              </a:lnSpc>
            </a:pPr>
            <a:r>
              <a:rPr lang="en-US" sz="498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Ashwin Nair C M</a:t>
            </a:r>
          </a:p>
          <a:p>
            <a:pPr algn="ctr" marL="0" indent="0" lvl="0">
              <a:lnSpc>
                <a:spcPts val="7085"/>
              </a:lnSpc>
            </a:pPr>
            <a:r>
              <a:rPr lang="en-US" sz="498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Anandhakrishnan K 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7362" y="6596509"/>
            <a:ext cx="6701938" cy="2661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5"/>
              </a:lnSpc>
            </a:pPr>
            <a:r>
              <a:rPr lang="en-US" sz="498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Sreenivasa Pai</a:t>
            </a:r>
          </a:p>
          <a:p>
            <a:pPr algn="ctr">
              <a:lnSpc>
                <a:spcPts val="7085"/>
              </a:lnSpc>
            </a:pPr>
            <a:r>
              <a:rPr lang="en-US" sz="498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Nandana N</a:t>
            </a:r>
          </a:p>
          <a:p>
            <a:pPr algn="ctr" marL="0" indent="0" lvl="0">
              <a:lnSpc>
                <a:spcPts val="7085"/>
              </a:lnSpc>
            </a:pPr>
            <a:r>
              <a:rPr lang="en-US" sz="498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Vikesh K Iyer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Kochi TravelMate</dc:description>
  <dc:identifier>DAGzV5tauXM</dc:identifier>
  <dcterms:modified xsi:type="dcterms:W3CDTF">2011-08-01T06:04:30Z</dcterms:modified>
  <cp:revision>1</cp:revision>
  <dc:title>TravelOne</dc:title>
</cp:coreProperties>
</file>